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embeddedFontLst>
    <p:embeddedFont>
      <p:font typeface="Noto Sans JP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fX1+DVvkQm3E9cdfKyhpTSaMlr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増田健太郎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FB3DCA4-757D-4564-B0D9-2AFA57E06221}">
  <a:tblStyle styleId="{8FB3DCA4-757D-4564-B0D9-2AFA57E0622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NotoSansJP-bold.fntdata"/><Relationship Id="rId16" Type="http://schemas.openxmlformats.org/officeDocument/2006/relationships/font" Target="fonts/NotoSansJP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10-01T03:41:04.201">
    <p:pos x="6000" y="0"/>
    <p:text>・EthereumテストネットのSepolia上にJPYSCテストトークンがある
・トークンはStartaleから直接送付で受け取る必要がある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AzMUjGE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ja-JP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ea5978a98c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g3ea5978a98c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" name="Google Shape;27;g3ea5978a98c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h6f490ff18f21e05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h6f490ff18f21e05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" name="Google Shape;37;h6f490ff18f21e05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75c6641a97eb45fb_2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h75c6641a97eb45fb_2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h75c6641a97eb45fb_2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75c6641a97eb45fb_2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h75c6641a97eb45fb_2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h75c6641a97eb45fb_2_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h75c6641a97eb45fb_2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h75c6641a97eb45fb_2_1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h75c6641a97eb45fb_2_1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h75c6641a97eb45fb_2_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h75c6641a97eb45fb_2_1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h75c6641a97eb45fb_2_1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h75c6641a97eb45fb_2_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h75c6641a97eb45fb_2_1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h75c6641a97eb45fb_2_1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h75c6641a97eb45fb_2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h75c6641a97eb45fb_2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h75c6641a97eb45fb_2_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ee979a73b3_5_1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ee979a73b3_5_1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g3ee979a73b3_5_1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620799" y="324958"/>
            <a:ext cx="223520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8"/>
          <p:cNvSpPr/>
          <p:nvPr/>
        </p:nvSpPr>
        <p:spPr>
          <a:xfrm>
            <a:off x="335999" y="6326630"/>
            <a:ext cx="11520000" cy="36000"/>
          </a:xfrm>
          <a:prstGeom prst="rect">
            <a:avLst/>
          </a:prstGeom>
          <a:gradFill>
            <a:gsLst>
              <a:gs pos="0">
                <a:srgbClr val="112652"/>
              </a:gs>
              <a:gs pos="100000">
                <a:srgbClr val="23418D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8"/>
          <p:cNvSpPr txBox="1"/>
          <p:nvPr>
            <p:ph type="title"/>
          </p:nvPr>
        </p:nvSpPr>
        <p:spPr>
          <a:xfrm>
            <a:off x="838200" y="254517"/>
            <a:ext cx="10515600" cy="4569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2652"/>
              </a:buClr>
              <a:buSzPts val="2400"/>
              <a:buFont typeface="Meiryo"/>
              <a:buNone/>
              <a:defRPr sz="2400">
                <a:solidFill>
                  <a:srgbClr val="112652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838200" y="822406"/>
            <a:ext cx="10515600" cy="5354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2652"/>
              </a:buClr>
              <a:buSzPts val="2000"/>
              <a:buFont typeface="Noto Sans Symbols"/>
              <a:buChar char="■"/>
              <a:defRPr sz="20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43C64"/>
              </a:buClr>
              <a:buSzPts val="1800"/>
              <a:buFont typeface="Noto Sans Symbols"/>
              <a:buChar char="■"/>
              <a:defRPr sz="18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3418D"/>
              </a:buClr>
              <a:buSzPts val="1600"/>
              <a:buFont typeface="Noto Sans Symbols"/>
              <a:buChar char="■"/>
              <a:defRPr sz="16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F5C99"/>
              </a:buClr>
              <a:buSzPts val="1400"/>
              <a:buFont typeface="Noto Sans Symbols"/>
              <a:buChar char="■"/>
              <a:defRPr sz="14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892DC"/>
              </a:buClr>
              <a:buSzPts val="1200"/>
              <a:buFont typeface="Noto Sans Symbols"/>
              <a:buChar char="■"/>
              <a:defRPr sz="120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Meiryo"/>
                <a:ea typeface="Meiryo"/>
                <a:cs typeface="Meiryo"/>
                <a:sym typeface="Meiry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eiryo"/>
                <a:ea typeface="Meiryo"/>
                <a:cs typeface="Meiryo"/>
                <a:sym typeface="Meiry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eiryo"/>
                <a:ea typeface="Meiryo"/>
                <a:cs typeface="Meiryo"/>
                <a:sym typeface="Meiry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eiryo"/>
                <a:ea typeface="Meiryo"/>
                <a:cs typeface="Meiryo"/>
                <a:sym typeface="Meiry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eiryo"/>
                <a:ea typeface="Meiryo"/>
                <a:cs typeface="Meiryo"/>
                <a:sym typeface="Meiry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eiryo"/>
                <a:ea typeface="Meiryo"/>
                <a:cs typeface="Meiryo"/>
                <a:sym typeface="Meiry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eiryo"/>
                <a:ea typeface="Meiryo"/>
                <a:cs typeface="Meiryo"/>
                <a:sym typeface="Meiry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eiryo"/>
                <a:ea typeface="Meiryo"/>
                <a:cs typeface="Meiryo"/>
                <a:sym typeface="Meiry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eiryo"/>
                <a:ea typeface="Meiryo"/>
                <a:cs typeface="Meiryo"/>
                <a:sym typeface="Meiry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eiryo"/>
                <a:ea typeface="Meiryo"/>
                <a:cs typeface="Meiryo"/>
                <a:sym typeface="Meiry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23" name="Google Shape;23;p8"/>
          <p:cNvSpPr/>
          <p:nvPr/>
        </p:nvSpPr>
        <p:spPr>
          <a:xfrm>
            <a:off x="335998" y="663037"/>
            <a:ext cx="11520000" cy="36000"/>
          </a:xfrm>
          <a:prstGeom prst="rect">
            <a:avLst/>
          </a:prstGeom>
          <a:gradFill>
            <a:gsLst>
              <a:gs pos="0">
                <a:srgbClr val="112652"/>
              </a:gs>
              <a:gs pos="100000">
                <a:srgbClr val="23418D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1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ea5978a98c_0_9"/>
          <p:cNvSpPr txBox="1"/>
          <p:nvPr>
            <p:ph type="title"/>
          </p:nvPr>
        </p:nvSpPr>
        <p:spPr>
          <a:xfrm>
            <a:off x="838200" y="886023"/>
            <a:ext cx="10515600" cy="52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sz="2000">
              <a:solidFill>
                <a:srgbClr val="0E7C86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rgbClr val="0E7C86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ja-JP" sz="2000">
                <a:solidFill>
                  <a:srgbClr val="5B6773"/>
                </a:solidFill>
              </a:rPr>
              <a:t>大阪府自動車税ステーブルコイン支払いPoC　検証・実証の進め方</a:t>
            </a:r>
            <a:endParaRPr b="1" sz="2000">
              <a:solidFill>
                <a:srgbClr val="5B6773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solidFill>
                <a:srgbClr val="5B6773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sz="2000">
                <a:solidFill>
                  <a:srgbClr val="5B6773"/>
                </a:solidFill>
              </a:rPr>
              <a:t>2026年10月</a:t>
            </a:r>
            <a:endParaRPr sz="2000">
              <a:solidFill>
                <a:srgbClr val="5B6773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rgbClr val="5B6773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ja-JP" sz="1500">
                <a:solidFill>
                  <a:srgbClr val="5B6773"/>
                </a:solidFill>
              </a:rPr>
              <a:t>株式会社電算システム</a:t>
            </a:r>
            <a:endParaRPr sz="1500">
              <a:solidFill>
                <a:srgbClr val="5B6773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ja-JP" sz="1500">
                <a:solidFill>
                  <a:srgbClr val="5B6773"/>
                </a:solidFill>
              </a:rPr>
              <a:t>決済サービス事業本部 SC推進室</a:t>
            </a:r>
            <a:endParaRPr sz="1500">
              <a:solidFill>
                <a:srgbClr val="5B6773"/>
              </a:solidFill>
            </a:endParaRPr>
          </a:p>
        </p:txBody>
      </p:sp>
      <p:sp>
        <p:nvSpPr>
          <p:cNvPr id="30" name="Google Shape;30;g3ea5978a98c_0_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31" name="Google Shape;31;g3ea5978a98c_0_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ja-JP"/>
              <a:t>2026/9/28</a:t>
            </a:r>
            <a:endParaRPr/>
          </a:p>
        </p:txBody>
      </p:sp>
      <p:sp>
        <p:nvSpPr>
          <p:cNvPr id="32" name="Google Shape;32;g3ea5978a98c_0_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© DSK.All Rights Reserved.</a:t>
            </a:r>
            <a:endParaRPr/>
          </a:p>
        </p:txBody>
      </p:sp>
      <p:sp>
        <p:nvSpPr>
          <p:cNvPr id="33" name="Google Shape;33;g3ea5978a98c_0_9"/>
          <p:cNvSpPr txBox="1"/>
          <p:nvPr/>
        </p:nvSpPr>
        <p:spPr>
          <a:xfrm>
            <a:off x="8497400" y="6338800"/>
            <a:ext cx="116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-JP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h6f490ff18f21e05d_0_0"/>
          <p:cNvSpPr txBox="1"/>
          <p:nvPr>
            <p:ph type="title"/>
          </p:nvPr>
        </p:nvSpPr>
        <p:spPr>
          <a:xfrm>
            <a:off x="838200" y="254517"/>
            <a:ext cx="105156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2652"/>
              </a:buClr>
              <a:buSzPts val="2000"/>
              <a:buFont typeface="Meiryo"/>
              <a:buNone/>
            </a:pPr>
            <a:r>
              <a:rPr b="1" lang="ja-JP" sz="2000"/>
              <a:t>全体像：料金通知から大阪府徴税対策課様への入金までの流れ</a:t>
            </a:r>
            <a:endParaRPr b="1" sz="2000"/>
          </a:p>
        </p:txBody>
      </p:sp>
      <p:sp>
        <p:nvSpPr>
          <p:cNvPr id="40" name="Google Shape;40;h6f490ff18f21e05d_0_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© DSK.All Rights Reserved.</a:t>
            </a:r>
            <a:endParaRPr/>
          </a:p>
        </p:txBody>
      </p:sp>
      <p:sp>
        <p:nvSpPr>
          <p:cNvPr id="41" name="Google Shape;41;h6f490ff18f21e05d_0_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42" name="Google Shape;42;h6f490ff18f21e05d_0_0"/>
          <p:cNvSpPr txBox="1"/>
          <p:nvPr/>
        </p:nvSpPr>
        <p:spPr>
          <a:xfrm>
            <a:off x="8497400" y="6338800"/>
            <a:ext cx="116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-JP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h6f490ff18f21e05d_0_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ja-JP"/>
              <a:t>2026/9/28</a:t>
            </a:r>
            <a:endParaRPr/>
          </a:p>
        </p:txBody>
      </p:sp>
      <p:sp>
        <p:nvSpPr>
          <p:cNvPr id="44" name="Google Shape;44;h6f490ff18f21e05d_0_0"/>
          <p:cNvSpPr/>
          <p:nvPr/>
        </p:nvSpPr>
        <p:spPr>
          <a:xfrm>
            <a:off x="491650" y="1471346"/>
            <a:ext cx="2637600" cy="789000"/>
          </a:xfrm>
          <a:prstGeom prst="rect">
            <a:avLst/>
          </a:prstGeom>
          <a:solidFill>
            <a:srgbClr val="EEF7F0"/>
          </a:solidFill>
          <a:ln cap="flat" cmpd="sng" w="18250">
            <a:solidFill>
              <a:srgbClr val="2E8B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9500" lIns="119500" spcFirstLastPara="1" rIns="119500" wrap="square" tIns="119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h6f490ff18f21e05d_0_0"/>
          <p:cNvSpPr txBox="1"/>
          <p:nvPr/>
        </p:nvSpPr>
        <p:spPr>
          <a:xfrm>
            <a:off x="577007" y="1471346"/>
            <a:ext cx="24669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E8B4E"/>
              </a:buClr>
              <a:buSzPts val="889"/>
              <a:buFont typeface="Noto Sans JP"/>
              <a:buNone/>
            </a:pPr>
            <a:r>
              <a:rPr b="1" i="0" lang="ja-JP" sz="889" u="none" cap="none" strike="noStrike">
                <a:solidFill>
                  <a:srgbClr val="2E8B4E"/>
                </a:solidFill>
                <a:latin typeface="Noto Sans JP"/>
                <a:ea typeface="Noto Sans JP"/>
                <a:cs typeface="Noto Sans JP"/>
                <a:sym typeface="Noto Sans JP"/>
              </a:rPr>
              <a:t>大阪府徴税対策課様</a:t>
            </a:r>
            <a:endParaRPr b="0" i="0" sz="1111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62"/>
              <a:buFont typeface="Noto Sans JP"/>
              <a:buNone/>
            </a:pPr>
            <a:r>
              <a:rPr b="1" i="0" lang="ja-JP" sz="1163" u="none" cap="none" strike="noStrike">
                <a:solidFill>
                  <a:srgbClr val="222222"/>
                </a:solidFill>
                <a:latin typeface="Noto Sans JP"/>
                <a:ea typeface="Noto Sans JP"/>
                <a:cs typeface="Noto Sans JP"/>
                <a:sym typeface="Noto Sans JP"/>
              </a:rPr>
              <a:t>払込票を郵送</a:t>
            </a:r>
            <a:endParaRPr b="0" i="0" sz="1111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63"/>
              <a:buFont typeface="Noto Sans JP"/>
              <a:buNone/>
            </a:pPr>
            <a:r>
              <a:rPr b="0" i="0" lang="ja-JP" sz="863" u="none" cap="none" strike="noStrike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紙の払込票が支払いの起点</a:t>
            </a:r>
            <a:endParaRPr b="0" i="0" sz="1111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6" name="Google Shape;46;h6f490ff18f21e05d_0_0"/>
          <p:cNvSpPr/>
          <p:nvPr/>
        </p:nvSpPr>
        <p:spPr>
          <a:xfrm rot="5400000">
            <a:off x="3153501" y="1804637"/>
            <a:ext cx="170700" cy="122100"/>
          </a:xfrm>
          <a:prstGeom prst="triangle">
            <a:avLst>
              <a:gd fmla="val 50000" name="adj"/>
            </a:avLst>
          </a:prstGeom>
          <a:solidFill>
            <a:srgbClr val="3B5A8F"/>
          </a:solidFill>
          <a:ln>
            <a:noFill/>
          </a:ln>
        </p:spPr>
        <p:txBody>
          <a:bodyPr anchorCtr="0" anchor="ctr" bIns="119500" lIns="119500" spcFirstLastPara="1" rIns="119500" wrap="square" tIns="119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h6f490ff18f21e05d_0_0"/>
          <p:cNvSpPr/>
          <p:nvPr/>
        </p:nvSpPr>
        <p:spPr>
          <a:xfrm>
            <a:off x="3348677" y="1471346"/>
            <a:ext cx="2637600" cy="789000"/>
          </a:xfrm>
          <a:prstGeom prst="rect">
            <a:avLst/>
          </a:prstGeom>
          <a:solidFill>
            <a:srgbClr val="FFFFFF"/>
          </a:solidFill>
          <a:ln cap="flat" cmpd="sng" w="12425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9500" lIns="119500" spcFirstLastPara="1" rIns="119500" wrap="square" tIns="119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h6f490ff18f21e05d_0_0"/>
          <p:cNvSpPr txBox="1"/>
          <p:nvPr/>
        </p:nvSpPr>
        <p:spPr>
          <a:xfrm>
            <a:off x="3434034" y="1471346"/>
            <a:ext cx="24669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4FA1"/>
              </a:buClr>
              <a:buSzPts val="889"/>
              <a:buFont typeface="Noto Sans JP"/>
              <a:buNone/>
            </a:pPr>
            <a:r>
              <a:rPr b="1" i="0" lang="ja-JP" sz="889" u="none" cap="none" strike="noStrike">
                <a:solidFill>
                  <a:srgbClr val="1E4FA1"/>
                </a:solidFill>
                <a:latin typeface="Noto Sans JP"/>
                <a:ea typeface="Noto Sans JP"/>
                <a:cs typeface="Noto Sans JP"/>
                <a:sym typeface="Noto Sans JP"/>
              </a:rPr>
              <a:t>納税者</a:t>
            </a:r>
            <a:endParaRPr b="0" i="0" sz="1111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62"/>
              <a:buFont typeface="Noto Sans JP"/>
              <a:buNone/>
            </a:pPr>
            <a:r>
              <a:rPr b="1" i="0" lang="ja-JP" sz="1163" u="none" cap="none" strike="noStrike">
                <a:solidFill>
                  <a:srgbClr val="222222"/>
                </a:solidFill>
                <a:latin typeface="Noto Sans JP"/>
                <a:ea typeface="Noto Sans JP"/>
                <a:cs typeface="Noto Sans JP"/>
                <a:sym typeface="Noto Sans JP"/>
              </a:rPr>
              <a:t>払込票を受け取る</a:t>
            </a:r>
            <a:endParaRPr b="0" i="0" sz="1111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49" name="Google Shape;49;h6f490ff18f21e05d_0_0"/>
          <p:cNvSpPr/>
          <p:nvPr/>
        </p:nvSpPr>
        <p:spPr>
          <a:xfrm rot="5400000">
            <a:off x="6010530" y="1804637"/>
            <a:ext cx="170700" cy="122100"/>
          </a:xfrm>
          <a:prstGeom prst="triangle">
            <a:avLst>
              <a:gd fmla="val 50000" name="adj"/>
            </a:avLst>
          </a:prstGeom>
          <a:solidFill>
            <a:srgbClr val="3B5A8F"/>
          </a:solidFill>
          <a:ln>
            <a:noFill/>
          </a:ln>
        </p:spPr>
        <p:txBody>
          <a:bodyPr anchorCtr="0" anchor="ctr" bIns="119500" lIns="119500" spcFirstLastPara="1" rIns="119500" wrap="square" tIns="119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h6f490ff18f21e05d_0_0"/>
          <p:cNvSpPr/>
          <p:nvPr/>
        </p:nvSpPr>
        <p:spPr>
          <a:xfrm>
            <a:off x="6205705" y="1471346"/>
            <a:ext cx="2637600" cy="789000"/>
          </a:xfrm>
          <a:prstGeom prst="rect">
            <a:avLst/>
          </a:prstGeom>
          <a:solidFill>
            <a:srgbClr val="FFFFFF"/>
          </a:solidFill>
          <a:ln cap="flat" cmpd="sng" w="12425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9500" lIns="119500" spcFirstLastPara="1" rIns="119500" wrap="square" tIns="119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h6f490ff18f21e05d_0_0"/>
          <p:cNvSpPr txBox="1"/>
          <p:nvPr/>
        </p:nvSpPr>
        <p:spPr>
          <a:xfrm>
            <a:off x="6291062" y="1471346"/>
            <a:ext cx="24669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4FA1"/>
              </a:buClr>
              <a:buSzPts val="889"/>
              <a:buFont typeface="Noto Sans JP"/>
              <a:buNone/>
            </a:pPr>
            <a:r>
              <a:rPr b="1" i="0" lang="ja-JP" sz="889" u="none" cap="none" strike="noStrike">
                <a:solidFill>
                  <a:srgbClr val="1E4FA1"/>
                </a:solidFill>
                <a:latin typeface="Noto Sans JP"/>
                <a:ea typeface="Noto Sans JP"/>
                <a:cs typeface="Noto Sans JP"/>
                <a:sym typeface="Noto Sans JP"/>
              </a:rPr>
              <a:t>納税者</a:t>
            </a:r>
            <a:endParaRPr b="0" i="0" sz="1111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62"/>
              <a:buFont typeface="Noto Sans JP"/>
              <a:buNone/>
            </a:pPr>
            <a:r>
              <a:rPr b="1" i="0" lang="ja-JP" sz="1163" u="none" cap="none" strike="noStrike">
                <a:solidFill>
                  <a:srgbClr val="222222"/>
                </a:solidFill>
                <a:latin typeface="Noto Sans JP"/>
                <a:ea typeface="Noto Sans JP"/>
                <a:cs typeface="Noto Sans JP"/>
                <a:sym typeface="Noto Sans JP"/>
              </a:rPr>
              <a:t>コンビニ店頭で支払い</a:t>
            </a:r>
            <a:endParaRPr b="0" i="0" sz="1111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2" name="Google Shape;52;h6f490ff18f21e05d_0_0"/>
          <p:cNvSpPr/>
          <p:nvPr/>
        </p:nvSpPr>
        <p:spPr>
          <a:xfrm rot="5400000">
            <a:off x="8867557" y="1804637"/>
            <a:ext cx="170700" cy="122100"/>
          </a:xfrm>
          <a:prstGeom prst="triangle">
            <a:avLst>
              <a:gd fmla="val 50000" name="adj"/>
            </a:avLst>
          </a:prstGeom>
          <a:solidFill>
            <a:srgbClr val="3B5A8F"/>
          </a:solidFill>
          <a:ln>
            <a:noFill/>
          </a:ln>
        </p:spPr>
        <p:txBody>
          <a:bodyPr anchorCtr="0" anchor="ctr" bIns="119500" lIns="119500" spcFirstLastPara="1" rIns="119500" wrap="square" tIns="119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h6f490ff18f21e05d_0_0"/>
          <p:cNvSpPr/>
          <p:nvPr/>
        </p:nvSpPr>
        <p:spPr>
          <a:xfrm>
            <a:off x="9062733" y="1471346"/>
            <a:ext cx="2637600" cy="789000"/>
          </a:xfrm>
          <a:prstGeom prst="rect">
            <a:avLst/>
          </a:prstGeom>
          <a:solidFill>
            <a:srgbClr val="EEF3FB"/>
          </a:solidFill>
          <a:ln cap="flat" cmpd="sng" w="18250">
            <a:solidFill>
              <a:srgbClr val="003F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9500" lIns="119500" spcFirstLastPara="1" rIns="119500" wrap="square" tIns="119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h6f490ff18f21e05d_0_0"/>
          <p:cNvSpPr txBox="1"/>
          <p:nvPr/>
        </p:nvSpPr>
        <p:spPr>
          <a:xfrm>
            <a:off x="9148089" y="1471346"/>
            <a:ext cx="2466900" cy="78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4FA1"/>
              </a:buClr>
              <a:buSzPts val="889"/>
              <a:buFont typeface="Noto Sans JP"/>
              <a:buNone/>
            </a:pPr>
            <a:r>
              <a:rPr b="1" i="0" lang="ja-JP" sz="889" u="none" cap="none" strike="noStrike">
                <a:solidFill>
                  <a:srgbClr val="1E4FA1"/>
                </a:solidFill>
                <a:latin typeface="Noto Sans JP"/>
                <a:ea typeface="Noto Sans JP"/>
                <a:cs typeface="Noto Sans JP"/>
                <a:sym typeface="Noto Sans JP"/>
              </a:rPr>
              <a:t>DSK</a:t>
            </a:r>
            <a:endParaRPr b="0" i="0" sz="1111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62"/>
              <a:buFont typeface="Noto Sans JP"/>
              <a:buNone/>
            </a:pPr>
            <a:r>
              <a:rPr b="1" i="0" lang="ja-JP" sz="1163" u="none" cap="none" strike="noStrike">
                <a:solidFill>
                  <a:srgbClr val="222222"/>
                </a:solidFill>
                <a:latin typeface="Noto Sans JP"/>
                <a:ea typeface="Noto Sans JP"/>
                <a:cs typeface="Noto Sans JP"/>
                <a:sym typeface="Noto Sans JP"/>
              </a:rPr>
              <a:t>収納・消込データ連携</a:t>
            </a:r>
            <a:endParaRPr b="0" i="0" sz="1111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63"/>
              <a:buFont typeface="Noto Sans JP"/>
              <a:buNone/>
            </a:pPr>
            <a:r>
              <a:rPr b="0" i="0" lang="ja-JP" sz="863" u="none" cap="none" strike="noStrike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日本円で大阪府徴税対策課様へ払込</a:t>
            </a:r>
            <a:endParaRPr b="0" i="0" sz="1111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5" name="Google Shape;55;h6f490ff18f21e05d_0_0"/>
          <p:cNvSpPr/>
          <p:nvPr/>
        </p:nvSpPr>
        <p:spPr>
          <a:xfrm>
            <a:off x="491650" y="5314145"/>
            <a:ext cx="11208600" cy="496200"/>
          </a:xfrm>
          <a:prstGeom prst="rect">
            <a:avLst/>
          </a:prstGeom>
          <a:solidFill>
            <a:srgbClr val="FFFFFF"/>
          </a:solidFill>
          <a:ln cap="flat" cmpd="sng" w="14400">
            <a:solidFill>
              <a:srgbClr val="1E4F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350" lIns="94350" spcFirstLastPara="1" rIns="94350" wrap="square" tIns="94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h6f490ff18f21e05d_0_0"/>
          <p:cNvSpPr txBox="1"/>
          <p:nvPr/>
        </p:nvSpPr>
        <p:spPr>
          <a:xfrm>
            <a:off x="647732" y="5314145"/>
            <a:ext cx="108966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4FA1"/>
              </a:buClr>
              <a:buSzPts val="898"/>
              <a:buFont typeface="Noto Sans JP"/>
              <a:buNone/>
            </a:pPr>
            <a:r>
              <a:rPr b="1" i="0" lang="ja-JP" sz="898" u="none" cap="none" strike="noStrike">
                <a:solidFill>
                  <a:srgbClr val="1E4FA1"/>
                </a:solidFill>
                <a:latin typeface="Noto Sans JP"/>
                <a:ea typeface="Noto Sans JP"/>
                <a:cs typeface="Noto Sans JP"/>
                <a:sym typeface="Noto Sans JP"/>
              </a:rPr>
              <a:t>▶  </a:t>
            </a:r>
            <a:r>
              <a:rPr b="1" i="0" lang="ja-JP" sz="898" u="none" cap="none" strike="noStrike">
                <a:solidFill>
                  <a:srgbClr val="222233"/>
                </a:solidFill>
                <a:latin typeface="Noto Sans JP"/>
                <a:ea typeface="Noto Sans JP"/>
                <a:cs typeface="Noto Sans JP"/>
                <a:sym typeface="Noto Sans JP"/>
              </a:rPr>
              <a:t>まずは検証でのデータ確認までを実施する</a:t>
            </a:r>
            <a:endParaRPr b="1" i="0" sz="898" u="none" cap="none" strike="noStrike">
              <a:solidFill>
                <a:srgbClr val="222233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E4FA1"/>
              </a:buClr>
              <a:buSzPts val="898"/>
              <a:buFont typeface="Noto Sans JP"/>
              <a:buNone/>
            </a:pPr>
            <a:r>
              <a:rPr b="1" i="0" lang="ja-JP" sz="898" u="none" cap="none" strike="noStrike">
                <a:solidFill>
                  <a:srgbClr val="1E4FA1"/>
                </a:solidFill>
                <a:latin typeface="Noto Sans JP"/>
                <a:ea typeface="Noto Sans JP"/>
                <a:cs typeface="Noto Sans JP"/>
                <a:sym typeface="Noto Sans JP"/>
              </a:rPr>
              <a:t>▶  </a:t>
            </a:r>
            <a:r>
              <a:rPr b="1" i="0" lang="ja-JP" sz="898" u="none" cap="none" strike="noStrike">
                <a:solidFill>
                  <a:srgbClr val="222233"/>
                </a:solidFill>
                <a:latin typeface="Noto Sans JP"/>
                <a:ea typeface="Noto Sans JP"/>
                <a:cs typeface="Noto Sans JP"/>
                <a:sym typeface="Noto Sans JP"/>
              </a:rPr>
              <a:t>検証した結果をもって、「本部コード追加」等を実施し、本番データでの実証の実施判断可否をいただく</a:t>
            </a:r>
            <a:endParaRPr b="1" i="0" sz="898" u="none" cap="none" strike="noStrike">
              <a:solidFill>
                <a:srgbClr val="222233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57" name="Google Shape;57;h6f490ff18f21e05d_0_0"/>
          <p:cNvSpPr/>
          <p:nvPr/>
        </p:nvSpPr>
        <p:spPr>
          <a:xfrm>
            <a:off x="491650" y="2748572"/>
            <a:ext cx="11208600" cy="3825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txBody>
          <a:bodyPr anchorCtr="0" anchor="ctr" bIns="119500" lIns="119500" spcFirstLastPara="1" rIns="119500" wrap="square" tIns="119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h6f490ff18f21e05d_0_0"/>
          <p:cNvSpPr/>
          <p:nvPr/>
        </p:nvSpPr>
        <p:spPr>
          <a:xfrm>
            <a:off x="491650" y="2748572"/>
            <a:ext cx="61200" cy="382500"/>
          </a:xfrm>
          <a:prstGeom prst="rect">
            <a:avLst/>
          </a:prstGeom>
          <a:solidFill>
            <a:srgbClr val="1E4FA1"/>
          </a:solidFill>
          <a:ln>
            <a:noFill/>
          </a:ln>
        </p:spPr>
        <p:txBody>
          <a:bodyPr anchorCtr="0" anchor="ctr" bIns="119500" lIns="119500" spcFirstLastPara="1" rIns="119500" wrap="square" tIns="119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h6f490ff18f21e05d_0_0"/>
          <p:cNvSpPr txBox="1"/>
          <p:nvPr/>
        </p:nvSpPr>
        <p:spPr>
          <a:xfrm>
            <a:off x="698946" y="2748572"/>
            <a:ext cx="108552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22233"/>
              </a:buClr>
              <a:buSzPts val="1227"/>
              <a:buFont typeface="Noto Sans JP"/>
              <a:buNone/>
            </a:pPr>
            <a:r>
              <a:rPr b="1" i="0" lang="ja-JP" sz="1228" u="none" cap="none" strike="noStrike">
                <a:solidFill>
                  <a:srgbClr val="222233"/>
                </a:solidFill>
                <a:latin typeface="Noto Sans JP"/>
                <a:ea typeface="Noto Sans JP"/>
                <a:cs typeface="Noto Sans JP"/>
                <a:sym typeface="Noto Sans JP"/>
              </a:rPr>
              <a:t>ステーブルコインを活用した際の流れ</a:t>
            </a:r>
            <a:endParaRPr b="0" i="0" sz="1228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0" name="Google Shape;60;h6f490ff18f21e05d_0_0"/>
          <p:cNvSpPr/>
          <p:nvPr/>
        </p:nvSpPr>
        <p:spPr>
          <a:xfrm>
            <a:off x="491650" y="3525321"/>
            <a:ext cx="1776600" cy="896400"/>
          </a:xfrm>
          <a:prstGeom prst="rect">
            <a:avLst/>
          </a:prstGeom>
          <a:solidFill>
            <a:srgbClr val="EEF7F0"/>
          </a:solidFill>
          <a:ln cap="flat" cmpd="sng" w="18250">
            <a:solidFill>
              <a:srgbClr val="2E8B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9500" lIns="119500" spcFirstLastPara="1" rIns="119500" wrap="square" tIns="119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h6f490ff18f21e05d_0_0"/>
          <p:cNvSpPr txBox="1"/>
          <p:nvPr/>
        </p:nvSpPr>
        <p:spPr>
          <a:xfrm>
            <a:off x="539450" y="3525321"/>
            <a:ext cx="1681500" cy="8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8B4E"/>
              </a:buClr>
              <a:buSzPts val="1292"/>
              <a:buFont typeface="Noto Sans JP"/>
              <a:buNone/>
            </a:pPr>
            <a:r>
              <a:rPr b="1" i="0" lang="ja-JP" sz="1294" u="none" cap="none" strike="noStrike">
                <a:solidFill>
                  <a:srgbClr val="2E8B4E"/>
                </a:solidFill>
                <a:latin typeface="Noto Sans JP"/>
                <a:ea typeface="Noto Sans JP"/>
                <a:cs typeface="Noto Sans JP"/>
                <a:sym typeface="Noto Sans JP"/>
              </a:rPr>
              <a:t>自治体</a:t>
            </a:r>
            <a:endParaRPr b="0" i="0" sz="1111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28"/>
              <a:buFont typeface="Noto Sans JP"/>
              <a:buNone/>
            </a:pPr>
            <a:r>
              <a:rPr b="0" i="0" lang="ja-JP" sz="928" u="none" cap="none" strike="noStrike">
                <a:solidFill>
                  <a:srgbClr val="555555"/>
                </a:solidFill>
                <a:latin typeface="Noto Sans JP"/>
                <a:ea typeface="Noto Sans JP"/>
                <a:cs typeface="Noto Sans JP"/>
                <a:sym typeface="Noto Sans JP"/>
              </a:rPr>
              <a:t>料金通知と、</a:t>
            </a:r>
            <a:endParaRPr b="0" i="0" sz="1111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28"/>
              <a:buFont typeface="Noto Sans JP"/>
              <a:buNone/>
            </a:pPr>
            <a:r>
              <a:rPr b="0" i="0" lang="ja-JP" sz="928" u="none" cap="none" strike="noStrike">
                <a:solidFill>
                  <a:srgbClr val="555555"/>
                </a:solidFill>
                <a:latin typeface="Noto Sans JP"/>
                <a:ea typeface="Noto Sans JP"/>
                <a:cs typeface="Noto Sans JP"/>
                <a:sym typeface="Noto Sans JP"/>
              </a:rPr>
              <a:t>日本円の受領・消込のみ</a:t>
            </a:r>
            <a:endParaRPr b="0" i="0" sz="1111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2" name="Google Shape;62;h6f490ff18f21e05d_0_0"/>
          <p:cNvSpPr/>
          <p:nvPr/>
        </p:nvSpPr>
        <p:spPr>
          <a:xfrm>
            <a:off x="3635531" y="3525321"/>
            <a:ext cx="1776600" cy="896400"/>
          </a:xfrm>
          <a:prstGeom prst="rect">
            <a:avLst/>
          </a:prstGeom>
          <a:solidFill>
            <a:srgbClr val="FFFFFF"/>
          </a:solidFill>
          <a:ln cap="flat" cmpd="sng" w="12425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9500" lIns="119500" spcFirstLastPara="1" rIns="119500" wrap="square" tIns="119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h6f490ff18f21e05d_0_0"/>
          <p:cNvSpPr txBox="1"/>
          <p:nvPr/>
        </p:nvSpPr>
        <p:spPr>
          <a:xfrm>
            <a:off x="3683331" y="3525321"/>
            <a:ext cx="1681500" cy="8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92"/>
              <a:buFont typeface="Noto Sans JP"/>
              <a:buNone/>
            </a:pPr>
            <a:r>
              <a:rPr b="1" i="0" lang="ja-JP" sz="1294" u="none" cap="none" strike="noStrike">
                <a:solidFill>
                  <a:srgbClr val="222222"/>
                </a:solidFill>
                <a:latin typeface="Noto Sans JP"/>
                <a:ea typeface="Noto Sans JP"/>
                <a:cs typeface="Noto Sans JP"/>
                <a:sym typeface="Noto Sans JP"/>
              </a:rPr>
              <a:t>納税者</a:t>
            </a:r>
            <a:endParaRPr b="0" i="0" sz="1111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28"/>
              <a:buFont typeface="Noto Sans JP"/>
              <a:buNone/>
            </a:pPr>
            <a:r>
              <a:rPr b="0" i="0" lang="ja-JP" sz="928" u="none" cap="none" strike="noStrike">
                <a:solidFill>
                  <a:srgbClr val="555555"/>
                </a:solidFill>
                <a:latin typeface="Noto Sans JP"/>
                <a:ea typeface="Noto Sans JP"/>
                <a:cs typeface="Noto Sans JP"/>
                <a:sym typeface="Noto Sans JP"/>
              </a:rPr>
              <a:t>Startale Appの</a:t>
            </a:r>
            <a:endParaRPr b="0" i="0" sz="1111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28"/>
              <a:buFont typeface="Noto Sans JP"/>
              <a:buNone/>
            </a:pPr>
            <a:r>
              <a:rPr b="0" i="0" lang="ja-JP" sz="928" u="none" cap="none" strike="noStrike">
                <a:solidFill>
                  <a:srgbClr val="555555"/>
                </a:solidFill>
                <a:latin typeface="Noto Sans JP"/>
                <a:ea typeface="Noto Sans JP"/>
                <a:cs typeface="Noto Sans JP"/>
                <a:sym typeface="Noto Sans JP"/>
              </a:rPr>
              <a:t>ウォレットでJPYSCを保有</a:t>
            </a:r>
            <a:endParaRPr b="0" i="0" sz="1111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4" name="Google Shape;64;h6f490ff18f21e05d_0_0"/>
          <p:cNvSpPr/>
          <p:nvPr/>
        </p:nvSpPr>
        <p:spPr>
          <a:xfrm>
            <a:off x="6779412" y="3525321"/>
            <a:ext cx="1776600" cy="896400"/>
          </a:xfrm>
          <a:prstGeom prst="rect">
            <a:avLst/>
          </a:prstGeom>
          <a:solidFill>
            <a:srgbClr val="EEF3FB"/>
          </a:solidFill>
          <a:ln cap="flat" cmpd="sng" w="18250">
            <a:solidFill>
              <a:srgbClr val="003F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9500" lIns="119500" spcFirstLastPara="1" rIns="119500" wrap="square" tIns="119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h6f490ff18f21e05d_0_0"/>
          <p:cNvSpPr txBox="1"/>
          <p:nvPr/>
        </p:nvSpPr>
        <p:spPr>
          <a:xfrm>
            <a:off x="6827212" y="3525321"/>
            <a:ext cx="1681500" cy="8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92"/>
              <a:buFont typeface="Noto Sans JP"/>
              <a:buNone/>
            </a:pPr>
            <a:r>
              <a:rPr b="1" i="0" lang="ja-JP" sz="1294" u="none" cap="none" strike="noStrike">
                <a:solidFill>
                  <a:srgbClr val="222222"/>
                </a:solidFill>
                <a:latin typeface="Noto Sans JP"/>
                <a:ea typeface="Noto Sans JP"/>
                <a:cs typeface="Noto Sans JP"/>
                <a:sym typeface="Noto Sans JP"/>
              </a:rPr>
              <a:t>DSK</a:t>
            </a:r>
            <a:endParaRPr b="0" i="0" sz="1111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28"/>
              <a:buFont typeface="Noto Sans JP"/>
              <a:buNone/>
            </a:pPr>
            <a:r>
              <a:rPr b="0" i="0" lang="ja-JP" sz="928" u="none" cap="none" strike="noStrike">
                <a:solidFill>
                  <a:srgbClr val="555555"/>
                </a:solidFill>
                <a:latin typeface="Noto Sans JP"/>
                <a:ea typeface="Noto Sans JP"/>
                <a:cs typeface="Noto Sans JP"/>
                <a:sym typeface="Noto Sans JP"/>
              </a:rPr>
              <a:t>収納代行・⑤ 代理受領</a:t>
            </a:r>
            <a:endParaRPr b="0" i="0" sz="1111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28"/>
              <a:buFont typeface="Noto Sans JP"/>
              <a:buNone/>
            </a:pPr>
            <a:r>
              <a:rPr b="0" i="0" lang="ja-JP" sz="928" u="none" cap="none" strike="noStrike">
                <a:solidFill>
                  <a:srgbClr val="555555"/>
                </a:solidFill>
                <a:latin typeface="Noto Sans JP"/>
                <a:ea typeface="Noto Sans JP"/>
                <a:cs typeface="Noto Sans JP"/>
                <a:sym typeface="Noto Sans JP"/>
              </a:rPr>
              <a:t>収納データを生成</a:t>
            </a:r>
            <a:endParaRPr b="0" i="0" sz="1111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6" name="Google Shape;66;h6f490ff18f21e05d_0_0"/>
          <p:cNvSpPr/>
          <p:nvPr/>
        </p:nvSpPr>
        <p:spPr>
          <a:xfrm>
            <a:off x="9923294" y="3525321"/>
            <a:ext cx="1776600" cy="896400"/>
          </a:xfrm>
          <a:prstGeom prst="rect">
            <a:avLst/>
          </a:prstGeom>
          <a:solidFill>
            <a:srgbClr val="FFFFFF"/>
          </a:solidFill>
          <a:ln cap="flat" cmpd="sng" w="12425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9500" lIns="119500" spcFirstLastPara="1" rIns="119500" wrap="square" tIns="119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h6f490ff18f21e05d_0_0"/>
          <p:cNvSpPr txBox="1"/>
          <p:nvPr/>
        </p:nvSpPr>
        <p:spPr>
          <a:xfrm>
            <a:off x="9971094" y="3525321"/>
            <a:ext cx="1681500" cy="8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92"/>
              <a:buFont typeface="Noto Sans JP"/>
              <a:buNone/>
            </a:pPr>
            <a:r>
              <a:rPr b="1" i="0" lang="ja-JP" sz="1294" u="none" cap="none" strike="noStrike">
                <a:solidFill>
                  <a:srgbClr val="222222"/>
                </a:solidFill>
                <a:latin typeface="Noto Sans JP"/>
                <a:ea typeface="Noto Sans JP"/>
                <a:cs typeface="Noto Sans JP"/>
                <a:sym typeface="Noto Sans JP"/>
              </a:rPr>
              <a:t>SBI VCトレード</a:t>
            </a:r>
            <a:endParaRPr b="0" i="0" sz="1111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28"/>
              <a:buFont typeface="Noto Sans JP"/>
              <a:buNone/>
            </a:pPr>
            <a:r>
              <a:rPr b="0" i="0" lang="ja-JP" sz="928" u="none" cap="none" strike="noStrike">
                <a:solidFill>
                  <a:srgbClr val="555555"/>
                </a:solidFill>
                <a:latin typeface="Noto Sans JP"/>
                <a:ea typeface="Noto Sans JP"/>
                <a:cs typeface="Noto Sans JP"/>
                <a:sym typeface="Noto Sans JP"/>
              </a:rPr>
              <a:t>JPYSCの販売・出庫</a:t>
            </a:r>
            <a:endParaRPr b="0" i="0" sz="1111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28"/>
              <a:buFont typeface="Noto Sans JP"/>
              <a:buNone/>
            </a:pPr>
            <a:r>
              <a:rPr b="0" i="0" lang="ja-JP" sz="928" u="none" cap="none" strike="noStrike">
                <a:solidFill>
                  <a:srgbClr val="555555"/>
                </a:solidFill>
                <a:latin typeface="Noto Sans JP"/>
                <a:ea typeface="Noto Sans JP"/>
                <a:cs typeface="Noto Sans JP"/>
                <a:sym typeface="Noto Sans JP"/>
              </a:rPr>
              <a:t>JPYSCの売却（日本円）</a:t>
            </a:r>
            <a:endParaRPr b="0" i="0" sz="1111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68" name="Google Shape;68;h6f490ff18f21e05d_0_0"/>
          <p:cNvSpPr txBox="1"/>
          <p:nvPr/>
        </p:nvSpPr>
        <p:spPr>
          <a:xfrm>
            <a:off x="2327156" y="3812120"/>
            <a:ext cx="12501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89"/>
              <a:buFont typeface="Noto Sans JP"/>
              <a:buNone/>
            </a:pPr>
            <a:r>
              <a:rPr b="1" i="0" lang="ja-JP" sz="889" u="none" cap="none" strike="noStrike">
                <a:solidFill>
                  <a:srgbClr val="555555"/>
                </a:solidFill>
                <a:latin typeface="Noto Sans JP"/>
                <a:ea typeface="Noto Sans JP"/>
                <a:cs typeface="Noto Sans JP"/>
                <a:sym typeface="Noto Sans JP"/>
              </a:rPr>
              <a:t>① 料金通知</a:t>
            </a:r>
            <a:endParaRPr b="0" i="0" sz="889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89"/>
              <a:buFont typeface="Noto Sans JP"/>
              <a:buNone/>
            </a:pPr>
            <a:r>
              <a:rPr b="1" i="0" lang="ja-JP" sz="889" u="none" cap="none" strike="noStrike">
                <a:solidFill>
                  <a:srgbClr val="555555"/>
                </a:solidFill>
                <a:latin typeface="Noto Sans JP"/>
                <a:ea typeface="Noto Sans JP"/>
                <a:cs typeface="Noto Sans JP"/>
                <a:sym typeface="Noto Sans JP"/>
              </a:rPr>
              <a:t>（既存の払込票）▶</a:t>
            </a:r>
            <a:endParaRPr b="0" i="0" sz="889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cxnSp>
        <p:nvCxnSpPr>
          <p:cNvPr id="69" name="Google Shape;69;h6f490ff18f21e05d_0_0"/>
          <p:cNvCxnSpPr/>
          <p:nvPr/>
        </p:nvCxnSpPr>
        <p:spPr>
          <a:xfrm>
            <a:off x="2327156" y="4314019"/>
            <a:ext cx="1250100" cy="0"/>
          </a:xfrm>
          <a:prstGeom prst="straightConnector1">
            <a:avLst/>
          </a:prstGeom>
          <a:noFill/>
          <a:ln cap="flat" cmpd="sng" w="24900">
            <a:solidFill>
              <a:srgbClr val="8A94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" name="Google Shape;70;h6f490ff18f21e05d_0_0"/>
          <p:cNvSpPr txBox="1"/>
          <p:nvPr/>
        </p:nvSpPr>
        <p:spPr>
          <a:xfrm>
            <a:off x="5471039" y="3812120"/>
            <a:ext cx="12501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F8F"/>
              </a:buClr>
              <a:buSzPts val="889"/>
              <a:buFont typeface="Noto Sans JP"/>
              <a:buNone/>
            </a:pPr>
            <a:r>
              <a:rPr b="1" i="0" lang="ja-JP" sz="889" u="none" cap="none" strike="noStrike">
                <a:solidFill>
                  <a:srgbClr val="003F8F"/>
                </a:solidFill>
                <a:latin typeface="Noto Sans JP"/>
                <a:ea typeface="Noto Sans JP"/>
                <a:cs typeface="Noto Sans JP"/>
                <a:sym typeface="Noto Sans JP"/>
              </a:rPr>
              <a:t>④ JPYSCで支払い</a:t>
            </a:r>
            <a:endParaRPr b="0" i="0" sz="889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F8F"/>
              </a:buClr>
              <a:buSzPts val="889"/>
              <a:buFont typeface="Noto Sans JP"/>
              <a:buNone/>
            </a:pPr>
            <a:r>
              <a:rPr b="1" i="0" lang="ja-JP" sz="889" u="none" cap="none" strike="noStrike">
                <a:solidFill>
                  <a:srgbClr val="003F8F"/>
                </a:solidFill>
                <a:latin typeface="Noto Sans JP"/>
                <a:ea typeface="Noto Sans JP"/>
                <a:cs typeface="Noto Sans JP"/>
                <a:sym typeface="Noto Sans JP"/>
              </a:rPr>
              <a:t>（バーコード読取り）▶</a:t>
            </a:r>
            <a:endParaRPr b="0" i="0" sz="889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cxnSp>
        <p:nvCxnSpPr>
          <p:cNvPr id="71" name="Google Shape;71;h6f490ff18f21e05d_0_0"/>
          <p:cNvCxnSpPr/>
          <p:nvPr/>
        </p:nvCxnSpPr>
        <p:spPr>
          <a:xfrm>
            <a:off x="5471039" y="4314019"/>
            <a:ext cx="1250100" cy="0"/>
          </a:xfrm>
          <a:prstGeom prst="straightConnector1">
            <a:avLst/>
          </a:prstGeom>
          <a:noFill/>
          <a:ln cap="flat" cmpd="sng" w="24900">
            <a:solidFill>
              <a:srgbClr val="003F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h6f490ff18f21e05d_0_0"/>
          <p:cNvSpPr txBox="1"/>
          <p:nvPr/>
        </p:nvSpPr>
        <p:spPr>
          <a:xfrm>
            <a:off x="8614920" y="3812120"/>
            <a:ext cx="12501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F8F"/>
              </a:buClr>
              <a:buSzPts val="889"/>
              <a:buFont typeface="Noto Sans JP"/>
              <a:buNone/>
            </a:pPr>
            <a:r>
              <a:rPr b="1" i="0" lang="ja-JP" sz="889" u="none" cap="none" strike="noStrike">
                <a:solidFill>
                  <a:srgbClr val="003F8F"/>
                </a:solidFill>
                <a:latin typeface="Noto Sans JP"/>
                <a:ea typeface="Noto Sans JP"/>
                <a:cs typeface="Noto Sans JP"/>
                <a:sym typeface="Noto Sans JP"/>
              </a:rPr>
              <a:t>⑥ 円転</a:t>
            </a:r>
            <a:endParaRPr b="0" i="0" sz="889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3F8F"/>
              </a:buClr>
              <a:buSzPts val="889"/>
              <a:buFont typeface="Noto Sans JP"/>
              <a:buNone/>
            </a:pPr>
            <a:r>
              <a:rPr b="1" i="0" lang="ja-JP" sz="889" u="none" cap="none" strike="noStrike">
                <a:solidFill>
                  <a:srgbClr val="003F8F"/>
                </a:solidFill>
                <a:latin typeface="Noto Sans JP"/>
                <a:ea typeface="Noto Sans JP"/>
                <a:cs typeface="Noto Sans JP"/>
                <a:sym typeface="Noto Sans JP"/>
              </a:rPr>
              <a:t>（JPYSC ⇄ 日本円）</a:t>
            </a:r>
            <a:endParaRPr b="0" i="0" sz="889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cxnSp>
        <p:nvCxnSpPr>
          <p:cNvPr id="73" name="Google Shape;73;h6f490ff18f21e05d_0_0"/>
          <p:cNvCxnSpPr/>
          <p:nvPr/>
        </p:nvCxnSpPr>
        <p:spPr>
          <a:xfrm>
            <a:off x="8614920" y="4314019"/>
            <a:ext cx="1250100" cy="0"/>
          </a:xfrm>
          <a:prstGeom prst="straightConnector1">
            <a:avLst/>
          </a:prstGeom>
          <a:noFill/>
          <a:ln cap="flat" cmpd="sng" w="24900">
            <a:solidFill>
              <a:srgbClr val="003F8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" name="Google Shape;74;h6f490ff18f21e05d_0_0"/>
          <p:cNvCxnSpPr/>
          <p:nvPr/>
        </p:nvCxnSpPr>
        <p:spPr>
          <a:xfrm>
            <a:off x="8614920" y="4349869"/>
            <a:ext cx="1250100" cy="0"/>
          </a:xfrm>
          <a:prstGeom prst="straightConnector1">
            <a:avLst/>
          </a:prstGeom>
          <a:noFill/>
          <a:ln cap="flat" cmpd="sng" w="24900">
            <a:solidFill>
              <a:srgbClr val="2E8B4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" name="Google Shape;75;h6f490ff18f21e05d_0_0"/>
          <p:cNvCxnSpPr/>
          <p:nvPr/>
        </p:nvCxnSpPr>
        <p:spPr>
          <a:xfrm>
            <a:off x="1380138" y="3310221"/>
            <a:ext cx="6288000" cy="0"/>
          </a:xfrm>
          <a:prstGeom prst="straightConnector1">
            <a:avLst/>
          </a:prstGeom>
          <a:noFill/>
          <a:ln cap="flat" cmpd="sng" w="24900">
            <a:solidFill>
              <a:srgbClr val="2E8B4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" name="Google Shape;76;h6f490ff18f21e05d_0_0"/>
          <p:cNvCxnSpPr/>
          <p:nvPr/>
        </p:nvCxnSpPr>
        <p:spPr>
          <a:xfrm>
            <a:off x="1380138" y="3310221"/>
            <a:ext cx="0" cy="131400"/>
          </a:xfrm>
          <a:prstGeom prst="straightConnector1">
            <a:avLst/>
          </a:prstGeom>
          <a:noFill/>
          <a:ln cap="flat" cmpd="sng" w="24900">
            <a:solidFill>
              <a:srgbClr val="2E8B4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" name="Google Shape;77;h6f490ff18f21e05d_0_0"/>
          <p:cNvCxnSpPr/>
          <p:nvPr/>
        </p:nvCxnSpPr>
        <p:spPr>
          <a:xfrm>
            <a:off x="7667901" y="3310221"/>
            <a:ext cx="0" cy="215100"/>
          </a:xfrm>
          <a:prstGeom prst="straightConnector1">
            <a:avLst/>
          </a:prstGeom>
          <a:noFill/>
          <a:ln cap="flat" cmpd="sng" w="24900">
            <a:solidFill>
              <a:srgbClr val="2E8B4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h6f490ff18f21e05d_0_0"/>
          <p:cNvSpPr/>
          <p:nvPr/>
        </p:nvSpPr>
        <p:spPr>
          <a:xfrm rot="10800000">
            <a:off x="1326513" y="3435621"/>
            <a:ext cx="107400" cy="89700"/>
          </a:xfrm>
          <a:prstGeom prst="triangle">
            <a:avLst>
              <a:gd fmla="val 50000" name="adj"/>
            </a:avLst>
          </a:prstGeom>
          <a:solidFill>
            <a:srgbClr val="2E8B4E"/>
          </a:solidFill>
          <a:ln>
            <a:noFill/>
          </a:ln>
        </p:spPr>
        <p:txBody>
          <a:bodyPr anchorCtr="0" anchor="ctr" bIns="119500" lIns="119500" spcFirstLastPara="1" rIns="119500" wrap="square" tIns="119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h6f490ff18f21e05d_0_0"/>
          <p:cNvSpPr txBox="1"/>
          <p:nvPr/>
        </p:nvSpPr>
        <p:spPr>
          <a:xfrm>
            <a:off x="2432767" y="3202672"/>
            <a:ext cx="4182600" cy="21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8B4E"/>
              </a:buClr>
              <a:buSzPts val="889"/>
              <a:buFont typeface="Noto Sans JP"/>
              <a:buNone/>
            </a:pPr>
            <a:r>
              <a:rPr b="1" i="0" lang="ja-JP" sz="889" u="none" cap="none" strike="noStrike">
                <a:solidFill>
                  <a:srgbClr val="2E8B4E"/>
                </a:solidFill>
                <a:latin typeface="Noto Sans JP"/>
                <a:ea typeface="Noto Sans JP"/>
                <a:cs typeface="Noto Sans JP"/>
                <a:sym typeface="Noto Sans JP"/>
              </a:rPr>
              <a:t>⑦ 公金を日本円で払込 ＋ 消込データ連携（既存形式、電送システム※経由）</a:t>
            </a:r>
            <a:endParaRPr b="0" i="0" sz="889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80" name="Google Shape;80;h6f490ff18f21e05d_0_0"/>
          <p:cNvSpPr/>
          <p:nvPr/>
        </p:nvSpPr>
        <p:spPr>
          <a:xfrm>
            <a:off x="4524019" y="4505219"/>
            <a:ext cx="6278771" cy="155128"/>
          </a:xfrm>
          <a:custGeom>
            <a:rect b="b" l="l" r="r" t="t"/>
            <a:pathLst>
              <a:path extrusionOk="0" h="118872" w="4811319">
                <a:moveTo>
                  <a:pt x="0" y="0"/>
                </a:moveTo>
                <a:lnTo>
                  <a:pt x="0" y="118872"/>
                </a:lnTo>
                <a:lnTo>
                  <a:pt x="4811319" y="118872"/>
                </a:lnTo>
                <a:lnTo>
                  <a:pt x="4811319" y="0"/>
                </a:lnTo>
              </a:path>
            </a:pathLst>
          </a:custGeom>
          <a:noFill/>
          <a:ln cap="flat" cmpd="sng" w="24900">
            <a:solidFill>
              <a:srgbClr val="003F8F"/>
            </a:solidFill>
            <a:prstDash val="dash"/>
            <a:round/>
            <a:headEnd len="sm" w="sm" type="none"/>
            <a:tailEnd len="sm" w="sm" type="none"/>
          </a:ln>
        </p:spPr>
      </p:sp>
      <p:sp>
        <p:nvSpPr>
          <p:cNvPr id="81" name="Google Shape;81;h6f490ff18f21e05d_0_0"/>
          <p:cNvSpPr/>
          <p:nvPr/>
        </p:nvSpPr>
        <p:spPr>
          <a:xfrm>
            <a:off x="4470244" y="4421569"/>
            <a:ext cx="107400" cy="89700"/>
          </a:xfrm>
          <a:prstGeom prst="triangle">
            <a:avLst>
              <a:gd fmla="val 50000" name="adj"/>
            </a:avLst>
          </a:prstGeom>
          <a:solidFill>
            <a:srgbClr val="003F8F"/>
          </a:solidFill>
          <a:ln>
            <a:noFill/>
          </a:ln>
        </p:spPr>
        <p:txBody>
          <a:bodyPr anchorCtr="0" anchor="ctr" bIns="119500" lIns="119500" spcFirstLastPara="1" rIns="119500" wrap="square" tIns="119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h6f490ff18f21e05d_0_0"/>
          <p:cNvSpPr/>
          <p:nvPr/>
        </p:nvSpPr>
        <p:spPr>
          <a:xfrm>
            <a:off x="10758007" y="4421569"/>
            <a:ext cx="107400" cy="89700"/>
          </a:xfrm>
          <a:prstGeom prst="triangle">
            <a:avLst>
              <a:gd fmla="val 50000" name="adj"/>
            </a:avLst>
          </a:prstGeom>
          <a:solidFill>
            <a:srgbClr val="003F8F"/>
          </a:solidFill>
          <a:ln>
            <a:noFill/>
          </a:ln>
        </p:spPr>
        <p:txBody>
          <a:bodyPr anchorCtr="0" anchor="ctr" bIns="119500" lIns="119500" spcFirstLastPara="1" rIns="119500" wrap="square" tIns="119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h6f490ff18f21e05d_0_0"/>
          <p:cNvSpPr txBox="1"/>
          <p:nvPr/>
        </p:nvSpPr>
        <p:spPr>
          <a:xfrm>
            <a:off x="5815650" y="4553019"/>
            <a:ext cx="3704400" cy="21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F8F"/>
              </a:buClr>
              <a:buSzPts val="889"/>
              <a:buFont typeface="Noto Sans JP"/>
              <a:buNone/>
            </a:pPr>
            <a:r>
              <a:rPr b="1" i="0" lang="ja-JP" sz="889" u="none" cap="none" strike="noStrike">
                <a:solidFill>
                  <a:srgbClr val="003F8F"/>
                </a:solidFill>
                <a:latin typeface="Noto Sans JP"/>
                <a:ea typeface="Noto Sans JP"/>
                <a:cs typeface="Noto Sans JP"/>
                <a:sym typeface="Noto Sans JP"/>
              </a:rPr>
              <a:t>② 口座開設・JPYSC購入（事前準備）▶　◀ ③ ウォレットへ出庫</a:t>
            </a:r>
            <a:endParaRPr b="0" i="0" sz="889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cxnSp>
        <p:nvCxnSpPr>
          <p:cNvPr id="84" name="Google Shape;84;h6f490ff18f21e05d_0_0"/>
          <p:cNvCxnSpPr/>
          <p:nvPr/>
        </p:nvCxnSpPr>
        <p:spPr>
          <a:xfrm>
            <a:off x="7424606" y="4935418"/>
            <a:ext cx="273300" cy="0"/>
          </a:xfrm>
          <a:prstGeom prst="straightConnector1">
            <a:avLst/>
          </a:prstGeom>
          <a:noFill/>
          <a:ln cap="flat" cmpd="sng" w="24900">
            <a:solidFill>
              <a:srgbClr val="003F8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h6f490ff18f21e05d_0_0"/>
          <p:cNvSpPr txBox="1"/>
          <p:nvPr/>
        </p:nvSpPr>
        <p:spPr>
          <a:xfrm>
            <a:off x="7756279" y="4839818"/>
            <a:ext cx="501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49"/>
              <a:buFont typeface="Noto Sans JP"/>
              <a:buNone/>
            </a:pPr>
            <a:r>
              <a:rPr b="0" i="0" lang="ja-JP" sz="849" u="none" cap="none" strike="noStrike">
                <a:solidFill>
                  <a:srgbClr val="555555"/>
                </a:solidFill>
                <a:latin typeface="Noto Sans JP"/>
                <a:ea typeface="Noto Sans JP"/>
                <a:cs typeface="Noto Sans JP"/>
                <a:sym typeface="Noto Sans JP"/>
              </a:rPr>
              <a:t>JPYSC</a:t>
            </a:r>
            <a:endParaRPr b="0" i="0" sz="849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cxnSp>
        <p:nvCxnSpPr>
          <p:cNvPr id="86" name="Google Shape;86;h6f490ff18f21e05d_0_0"/>
          <p:cNvCxnSpPr/>
          <p:nvPr/>
        </p:nvCxnSpPr>
        <p:spPr>
          <a:xfrm>
            <a:off x="8492303" y="4935418"/>
            <a:ext cx="273300" cy="0"/>
          </a:xfrm>
          <a:prstGeom prst="straightConnector1">
            <a:avLst/>
          </a:prstGeom>
          <a:noFill/>
          <a:ln cap="flat" cmpd="sng" w="24900">
            <a:solidFill>
              <a:srgbClr val="2E8B4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h6f490ff18f21e05d_0_0"/>
          <p:cNvSpPr txBox="1"/>
          <p:nvPr/>
        </p:nvSpPr>
        <p:spPr>
          <a:xfrm>
            <a:off x="8823977" y="4839818"/>
            <a:ext cx="501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49"/>
              <a:buFont typeface="Noto Sans JP"/>
              <a:buNone/>
            </a:pPr>
            <a:r>
              <a:rPr b="0" i="0" lang="ja-JP" sz="849" u="none" cap="none" strike="noStrike">
                <a:solidFill>
                  <a:srgbClr val="555555"/>
                </a:solidFill>
                <a:latin typeface="Noto Sans JP"/>
                <a:ea typeface="Noto Sans JP"/>
                <a:cs typeface="Noto Sans JP"/>
                <a:sym typeface="Noto Sans JP"/>
              </a:rPr>
              <a:t>日本円</a:t>
            </a:r>
            <a:endParaRPr b="0" i="0" sz="849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cxnSp>
        <p:nvCxnSpPr>
          <p:cNvPr id="88" name="Google Shape;88;h6f490ff18f21e05d_0_0"/>
          <p:cNvCxnSpPr/>
          <p:nvPr/>
        </p:nvCxnSpPr>
        <p:spPr>
          <a:xfrm>
            <a:off x="9559999" y="4935418"/>
            <a:ext cx="273300" cy="0"/>
          </a:xfrm>
          <a:prstGeom prst="straightConnector1">
            <a:avLst/>
          </a:prstGeom>
          <a:noFill/>
          <a:ln cap="flat" cmpd="sng" w="24900">
            <a:solidFill>
              <a:srgbClr val="8A94A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h6f490ff18f21e05d_0_0"/>
          <p:cNvSpPr txBox="1"/>
          <p:nvPr/>
        </p:nvSpPr>
        <p:spPr>
          <a:xfrm>
            <a:off x="9891673" y="4839818"/>
            <a:ext cx="7410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49"/>
              <a:buFont typeface="Noto Sans JP"/>
              <a:buNone/>
            </a:pPr>
            <a:r>
              <a:rPr b="0" i="0" lang="ja-JP" sz="849" u="none" cap="none" strike="noStrike">
                <a:solidFill>
                  <a:srgbClr val="555555"/>
                </a:solidFill>
                <a:latin typeface="Noto Sans JP"/>
                <a:ea typeface="Noto Sans JP"/>
                <a:cs typeface="Noto Sans JP"/>
                <a:sym typeface="Noto Sans JP"/>
              </a:rPr>
              <a:t>通知・データ</a:t>
            </a:r>
            <a:endParaRPr b="0" i="0" sz="849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cxnSp>
        <p:nvCxnSpPr>
          <p:cNvPr id="90" name="Google Shape;90;h6f490ff18f21e05d_0_0"/>
          <p:cNvCxnSpPr/>
          <p:nvPr/>
        </p:nvCxnSpPr>
        <p:spPr>
          <a:xfrm>
            <a:off x="10866696" y="4935418"/>
            <a:ext cx="273300" cy="0"/>
          </a:xfrm>
          <a:prstGeom prst="straightConnector1">
            <a:avLst/>
          </a:prstGeom>
          <a:noFill/>
          <a:ln cap="flat" cmpd="sng" w="24900">
            <a:solidFill>
              <a:srgbClr val="003F8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1" name="Google Shape;91;h6f490ff18f21e05d_0_0"/>
          <p:cNvSpPr txBox="1"/>
          <p:nvPr/>
        </p:nvSpPr>
        <p:spPr>
          <a:xfrm>
            <a:off x="11198369" y="4839818"/>
            <a:ext cx="501900" cy="1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49"/>
              <a:buFont typeface="Noto Sans JP"/>
              <a:buNone/>
            </a:pPr>
            <a:r>
              <a:rPr b="0" i="0" lang="ja-JP" sz="849" u="none" cap="none" strike="noStrike">
                <a:solidFill>
                  <a:srgbClr val="555555"/>
                </a:solidFill>
                <a:latin typeface="Noto Sans JP"/>
                <a:ea typeface="Noto Sans JP"/>
                <a:cs typeface="Noto Sans JP"/>
                <a:sym typeface="Noto Sans JP"/>
              </a:rPr>
              <a:t>事前準備</a:t>
            </a:r>
            <a:endParaRPr b="0" i="0" sz="849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92" name="Google Shape;92;h6f490ff18f21e05d_0_0"/>
          <p:cNvSpPr/>
          <p:nvPr/>
        </p:nvSpPr>
        <p:spPr>
          <a:xfrm>
            <a:off x="491650" y="965925"/>
            <a:ext cx="11208600" cy="3825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txBody>
          <a:bodyPr anchorCtr="0" anchor="ctr" bIns="119500" lIns="119500" spcFirstLastPara="1" rIns="119500" wrap="square" tIns="119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h6f490ff18f21e05d_0_0"/>
          <p:cNvSpPr/>
          <p:nvPr/>
        </p:nvSpPr>
        <p:spPr>
          <a:xfrm>
            <a:off x="491650" y="965925"/>
            <a:ext cx="61200" cy="382500"/>
          </a:xfrm>
          <a:prstGeom prst="rect">
            <a:avLst/>
          </a:prstGeom>
          <a:solidFill>
            <a:srgbClr val="1E4FA1"/>
          </a:solidFill>
          <a:ln>
            <a:noFill/>
          </a:ln>
        </p:spPr>
        <p:txBody>
          <a:bodyPr anchorCtr="0" anchor="ctr" bIns="119500" lIns="119500" spcFirstLastPara="1" rIns="119500" wrap="square" tIns="119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h6f490ff18f21e05d_0_0"/>
          <p:cNvSpPr txBox="1"/>
          <p:nvPr/>
        </p:nvSpPr>
        <p:spPr>
          <a:xfrm>
            <a:off x="698946" y="965925"/>
            <a:ext cx="108552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22233"/>
              </a:buClr>
              <a:buSzPts val="1227"/>
              <a:buFont typeface="Noto Sans JP"/>
              <a:buNone/>
            </a:pPr>
            <a:r>
              <a:rPr b="1" i="0" lang="ja-JP" sz="1228" u="none" cap="none" strike="noStrike">
                <a:solidFill>
                  <a:srgbClr val="222233"/>
                </a:solidFill>
                <a:latin typeface="Noto Sans JP"/>
                <a:ea typeface="Noto Sans JP"/>
                <a:cs typeface="Noto Sans JP"/>
                <a:sym typeface="Noto Sans JP"/>
              </a:rPr>
              <a:t>現行の流れ（コンビニ収納）</a:t>
            </a:r>
            <a:endParaRPr b="1" i="0" sz="1228" u="none" cap="none" strike="noStrike">
              <a:solidFill>
                <a:srgbClr val="222233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75c6641a97eb45fb_2_10"/>
          <p:cNvSpPr txBox="1"/>
          <p:nvPr>
            <p:ph type="title"/>
          </p:nvPr>
        </p:nvSpPr>
        <p:spPr>
          <a:xfrm>
            <a:off x="838200" y="254517"/>
            <a:ext cx="105156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2652"/>
              </a:buClr>
              <a:buSzPts val="2000"/>
              <a:buFont typeface="Meiryo"/>
              <a:buNone/>
            </a:pPr>
            <a:r>
              <a:rPr b="1" lang="ja-JP" sz="2000"/>
              <a:t>Startale App（ミニアプリ）での支払いイメージ</a:t>
            </a:r>
            <a:endParaRPr b="1" sz="2000"/>
          </a:p>
        </p:txBody>
      </p:sp>
      <p:sp>
        <p:nvSpPr>
          <p:cNvPr id="101" name="Google Shape;101;h75c6641a97eb45fb_2_1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© DSK.All Rights Reserved.</a:t>
            </a:r>
            <a:endParaRPr/>
          </a:p>
        </p:txBody>
      </p:sp>
      <p:sp>
        <p:nvSpPr>
          <p:cNvPr id="102" name="Google Shape;102;h75c6641a97eb45fb_2_1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103" name="Google Shape;103;h75c6641a97eb45fb_2_10"/>
          <p:cNvSpPr txBox="1"/>
          <p:nvPr/>
        </p:nvSpPr>
        <p:spPr>
          <a:xfrm>
            <a:off x="8497400" y="6338800"/>
            <a:ext cx="116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-JP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h75c6641a97eb45fb_2_1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ja-JP"/>
              <a:t>2026/9/28</a:t>
            </a:r>
            <a:endParaRPr/>
          </a:p>
        </p:txBody>
      </p:sp>
      <p:pic>
        <p:nvPicPr>
          <p:cNvPr id="105" name="Google Shape;105;h75c6641a97eb45fb_2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0331" y="1845702"/>
            <a:ext cx="1838708" cy="4001058"/>
          </a:xfrm>
          <a:prstGeom prst="rect">
            <a:avLst/>
          </a:prstGeom>
          <a:noFill/>
          <a:ln cap="flat" cmpd="sng" w="97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6" name="Google Shape;106;h75c6641a97eb45fb_2_10" title="04-complete-without-subtitle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70661" y="1845702"/>
            <a:ext cx="1838707" cy="3977979"/>
          </a:xfrm>
          <a:prstGeom prst="rect">
            <a:avLst/>
          </a:prstGeom>
          <a:noFill/>
          <a:ln cap="flat" cmpd="sng" w="97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7" name="Google Shape;107;h75c6641a97eb45fb_2_10" title="03-review-checked-trimmed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37207" y="1845702"/>
            <a:ext cx="1838707" cy="3977169"/>
          </a:xfrm>
          <a:prstGeom prst="rect">
            <a:avLst/>
          </a:prstGeom>
          <a:noFill/>
          <a:ln cap="flat" cmpd="sng" w="97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8" name="Google Shape;108;h75c6641a97eb45fb_2_10" title="01-reading-trimmed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03774" y="1845702"/>
            <a:ext cx="1838707" cy="3971610"/>
          </a:xfrm>
          <a:prstGeom prst="rect">
            <a:avLst/>
          </a:prstGeom>
          <a:noFill/>
          <a:ln cap="flat" cmpd="sng" w="97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9" name="Google Shape;109;h75c6641a97eb45fb_2_10"/>
          <p:cNvSpPr/>
          <p:nvPr/>
        </p:nvSpPr>
        <p:spPr>
          <a:xfrm>
            <a:off x="504218" y="1292637"/>
            <a:ext cx="2770800" cy="394800"/>
          </a:xfrm>
          <a:prstGeom prst="homePlate">
            <a:avLst>
              <a:gd fmla="val 50000" name="adj"/>
            </a:avLst>
          </a:prstGeom>
          <a:solidFill>
            <a:srgbClr val="23418D"/>
          </a:solidFill>
          <a:ln>
            <a:noFill/>
          </a:ln>
        </p:spPr>
        <p:txBody>
          <a:bodyPr anchorCtr="0" anchor="ctr" bIns="93400" lIns="93400" spcFirstLastPara="1" rIns="93400" wrap="square" tIns="93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0"/>
              <a:buFont typeface="Arial"/>
              <a:buNone/>
            </a:pPr>
            <a:r>
              <a:rPr b="1" i="0" lang="ja-JP" sz="14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ミニアプリを選択</a:t>
            </a:r>
            <a:endParaRPr b="1" i="0" sz="14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h75c6641a97eb45fb_2_10"/>
          <p:cNvSpPr/>
          <p:nvPr/>
        </p:nvSpPr>
        <p:spPr>
          <a:xfrm>
            <a:off x="3337660" y="1292637"/>
            <a:ext cx="2770800" cy="394800"/>
          </a:xfrm>
          <a:prstGeom prst="homePlate">
            <a:avLst>
              <a:gd fmla="val 50000" name="adj"/>
            </a:avLst>
          </a:prstGeom>
          <a:solidFill>
            <a:srgbClr val="23418D"/>
          </a:solidFill>
          <a:ln>
            <a:noFill/>
          </a:ln>
        </p:spPr>
        <p:txBody>
          <a:bodyPr anchorCtr="0" anchor="ctr" bIns="93400" lIns="93400" spcFirstLastPara="1" rIns="93400" wrap="square" tIns="93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0"/>
              <a:buFont typeface="Arial"/>
              <a:buNone/>
            </a:pPr>
            <a:r>
              <a:rPr b="1" i="0" lang="ja-JP" sz="14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払込票の読み取り</a:t>
            </a:r>
            <a:endParaRPr b="1" i="0" sz="14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h75c6641a97eb45fb_2_10"/>
          <p:cNvSpPr/>
          <p:nvPr/>
        </p:nvSpPr>
        <p:spPr>
          <a:xfrm>
            <a:off x="6171100" y="1292637"/>
            <a:ext cx="2770800" cy="394800"/>
          </a:xfrm>
          <a:prstGeom prst="homePlate">
            <a:avLst>
              <a:gd fmla="val 50000" name="adj"/>
            </a:avLst>
          </a:prstGeom>
          <a:solidFill>
            <a:srgbClr val="23418D"/>
          </a:solidFill>
          <a:ln>
            <a:noFill/>
          </a:ln>
        </p:spPr>
        <p:txBody>
          <a:bodyPr anchorCtr="0" anchor="ctr" bIns="93400" lIns="93400" spcFirstLastPara="1" rIns="93400" wrap="square" tIns="93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0"/>
              <a:buFont typeface="Arial"/>
              <a:buNone/>
            </a:pPr>
            <a:r>
              <a:rPr b="1" i="0" lang="ja-JP" sz="14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支払い内容の確認</a:t>
            </a:r>
            <a:endParaRPr b="1" i="0" sz="14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h75c6641a97eb45fb_2_10"/>
          <p:cNvSpPr/>
          <p:nvPr/>
        </p:nvSpPr>
        <p:spPr>
          <a:xfrm>
            <a:off x="9004542" y="1292637"/>
            <a:ext cx="2770800" cy="394800"/>
          </a:xfrm>
          <a:prstGeom prst="homePlate">
            <a:avLst>
              <a:gd fmla="val 50000" name="adj"/>
            </a:avLst>
          </a:prstGeom>
          <a:solidFill>
            <a:srgbClr val="23418D"/>
          </a:solidFill>
          <a:ln>
            <a:noFill/>
          </a:ln>
        </p:spPr>
        <p:txBody>
          <a:bodyPr anchorCtr="0" anchor="ctr" bIns="93400" lIns="93400" spcFirstLastPara="1" rIns="93400" wrap="square" tIns="93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0"/>
              <a:buFont typeface="Arial"/>
              <a:buNone/>
            </a:pPr>
            <a:r>
              <a:rPr b="1" i="0" lang="ja-JP" sz="143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支払い完了</a:t>
            </a:r>
            <a:endParaRPr b="1" i="0" sz="143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h75c6641a97eb45fb_2_10"/>
          <p:cNvSpPr/>
          <p:nvPr/>
        </p:nvSpPr>
        <p:spPr>
          <a:xfrm>
            <a:off x="858323" y="3397653"/>
            <a:ext cx="2062800" cy="372900"/>
          </a:xfrm>
          <a:prstGeom prst="roundRect">
            <a:avLst>
              <a:gd fmla="val 16667" name="adj"/>
            </a:avLst>
          </a:prstGeom>
          <a:noFill/>
          <a:ln cap="flat" cmpd="sng" w="29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3400" lIns="93400" spcFirstLastPara="1" rIns="93400" wrap="square" tIns="93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30"/>
              <a:buFont typeface="Arial"/>
              <a:buNone/>
            </a:pPr>
            <a:r>
              <a:t/>
            </a:r>
            <a:endParaRPr b="0" i="0" sz="14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h75c6641a97eb45fb_2_10"/>
          <p:cNvSpPr txBox="1"/>
          <p:nvPr/>
        </p:nvSpPr>
        <p:spPr>
          <a:xfrm>
            <a:off x="416650" y="1011238"/>
            <a:ext cx="44682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b" bIns="93400" lIns="93400" spcFirstLastPara="1" rIns="93400" wrap="square" tIns="934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9"/>
              <a:buFont typeface="Arial"/>
              <a:buNone/>
            </a:pPr>
            <a:r>
              <a:rPr b="0" i="0" lang="ja-JP" sz="919" u="none" cap="none" strike="noStrike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※アプリ名および画面についてはいずれもイメージ</a:t>
            </a:r>
            <a:endParaRPr b="0" i="0" sz="91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75c6641a97eb45fb_2_81"/>
          <p:cNvSpPr/>
          <p:nvPr/>
        </p:nvSpPr>
        <p:spPr>
          <a:xfrm>
            <a:off x="362425" y="3365937"/>
            <a:ext cx="11055300" cy="400200"/>
          </a:xfrm>
          <a:prstGeom prst="rect">
            <a:avLst/>
          </a:prstGeom>
          <a:noFill/>
          <a:ln cap="flat" cmpd="sng" w="24550">
            <a:solidFill>
              <a:srgbClr val="003F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850" lIns="117850" spcFirstLastPara="1" rIns="117850" wrap="square" tIns="117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h75c6641a97eb45fb_2_81"/>
          <p:cNvSpPr/>
          <p:nvPr/>
        </p:nvSpPr>
        <p:spPr>
          <a:xfrm>
            <a:off x="362425" y="3365937"/>
            <a:ext cx="11055300" cy="4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17850" lIns="117850" spcFirstLastPara="1" rIns="117850" wrap="square" tIns="117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h75c6641a97eb45fb_2_81"/>
          <p:cNvSpPr/>
          <p:nvPr/>
        </p:nvSpPr>
        <p:spPr>
          <a:xfrm>
            <a:off x="362500" y="4671882"/>
            <a:ext cx="11055300" cy="1497000"/>
          </a:xfrm>
          <a:prstGeom prst="rect">
            <a:avLst/>
          </a:prstGeom>
          <a:noFill/>
          <a:ln cap="flat" cmpd="sng" w="12275">
            <a:solidFill>
              <a:srgbClr val="C8A6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850" lIns="117850" spcFirstLastPara="1" rIns="117850" wrap="square" tIns="117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h75c6641a97eb45fb_2_81"/>
          <p:cNvSpPr/>
          <p:nvPr/>
        </p:nvSpPr>
        <p:spPr>
          <a:xfrm>
            <a:off x="362500" y="1697253"/>
            <a:ext cx="11055300" cy="1497000"/>
          </a:xfrm>
          <a:prstGeom prst="rect">
            <a:avLst/>
          </a:prstGeom>
          <a:noFill/>
          <a:ln cap="flat" cmpd="sng" w="24550">
            <a:solidFill>
              <a:srgbClr val="003F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850" lIns="117850" spcFirstLastPara="1" rIns="117850" wrap="square" tIns="117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h75c6641a97eb45fb_2_81"/>
          <p:cNvSpPr txBox="1"/>
          <p:nvPr>
            <p:ph type="title"/>
          </p:nvPr>
        </p:nvSpPr>
        <p:spPr>
          <a:xfrm>
            <a:off x="838200" y="254517"/>
            <a:ext cx="105156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2652"/>
              </a:buClr>
              <a:buSzPts val="2000"/>
              <a:buFont typeface="Meiryo"/>
              <a:buNone/>
            </a:pPr>
            <a:r>
              <a:rPr b="1" lang="ja-JP" sz="2000"/>
              <a:t>プロジェクトはフェーズを分け進行</a:t>
            </a:r>
            <a:endParaRPr b="1" sz="2000"/>
          </a:p>
        </p:txBody>
      </p:sp>
      <p:sp>
        <p:nvSpPr>
          <p:cNvPr id="125" name="Google Shape;125;h75c6641a97eb45fb_2_8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© DSK.All Rights Reserved.</a:t>
            </a:r>
            <a:endParaRPr/>
          </a:p>
        </p:txBody>
      </p:sp>
      <p:sp>
        <p:nvSpPr>
          <p:cNvPr id="126" name="Google Shape;126;h75c6641a97eb45fb_2_8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127" name="Google Shape;127;h75c6641a97eb45fb_2_81"/>
          <p:cNvSpPr txBox="1"/>
          <p:nvPr/>
        </p:nvSpPr>
        <p:spPr>
          <a:xfrm>
            <a:off x="8497400" y="6338800"/>
            <a:ext cx="116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-JP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h75c6641a97eb45fb_2_8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ja-JP"/>
              <a:t>2026/9/28</a:t>
            </a:r>
            <a:endParaRPr/>
          </a:p>
        </p:txBody>
      </p:sp>
      <p:sp>
        <p:nvSpPr>
          <p:cNvPr id="129" name="Google Shape;129;h75c6641a97eb45fb_2_81"/>
          <p:cNvSpPr/>
          <p:nvPr/>
        </p:nvSpPr>
        <p:spPr>
          <a:xfrm>
            <a:off x="362500" y="881338"/>
            <a:ext cx="11055300" cy="6579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txBody>
          <a:bodyPr anchorCtr="0" anchor="ctr" bIns="117850" lIns="117850" spcFirstLastPara="1" rIns="117850" wrap="square" tIns="117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h75c6641a97eb45fb_2_81"/>
          <p:cNvSpPr/>
          <p:nvPr/>
        </p:nvSpPr>
        <p:spPr>
          <a:xfrm>
            <a:off x="362500" y="881338"/>
            <a:ext cx="60300" cy="657900"/>
          </a:xfrm>
          <a:prstGeom prst="rect">
            <a:avLst/>
          </a:prstGeom>
          <a:solidFill>
            <a:srgbClr val="1E4FA1"/>
          </a:solidFill>
          <a:ln>
            <a:noFill/>
          </a:ln>
        </p:spPr>
        <p:txBody>
          <a:bodyPr anchorCtr="0" anchor="ctr" bIns="117850" lIns="117850" spcFirstLastPara="1" rIns="117850" wrap="square" tIns="117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h75c6641a97eb45fb_2_81"/>
          <p:cNvSpPr txBox="1"/>
          <p:nvPr/>
        </p:nvSpPr>
        <p:spPr>
          <a:xfrm>
            <a:off x="557559" y="1035727"/>
            <a:ext cx="10706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22233"/>
              </a:buClr>
              <a:buSzPts val="1210"/>
              <a:buFont typeface="Noto Sans JP"/>
              <a:buNone/>
            </a:pPr>
            <a:r>
              <a:rPr b="1" i="0" lang="ja-JP" sz="1212" u="none" cap="none" strike="noStrike">
                <a:solidFill>
                  <a:srgbClr val="222233"/>
                </a:solidFill>
                <a:latin typeface="Noto Sans JP"/>
                <a:ea typeface="Noto Sans JP"/>
                <a:cs typeface="Noto Sans JP"/>
                <a:sym typeface="Noto Sans JP"/>
              </a:rPr>
              <a:t>検証フェーズは「本部コード追加なし」で仕組みが動くことを確かめるところまで。</a:t>
            </a:r>
            <a:endParaRPr b="1" i="0" sz="1212" u="none" cap="none" strike="noStrike">
              <a:solidFill>
                <a:srgbClr val="222233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22233"/>
              </a:buClr>
              <a:buSzPts val="1210"/>
              <a:buFont typeface="Noto Sans JP"/>
              <a:buNone/>
            </a:pPr>
            <a:r>
              <a:rPr b="1" i="0" lang="ja-JP" sz="1212" u="none" cap="none" strike="noStrike">
                <a:solidFill>
                  <a:srgbClr val="222233"/>
                </a:solidFill>
                <a:latin typeface="Noto Sans JP"/>
                <a:ea typeface="Noto Sans JP"/>
                <a:cs typeface="Noto Sans JP"/>
                <a:sym typeface="Noto Sans JP"/>
              </a:rPr>
              <a:t>検証の結果から、実証（および「本部コード追加対応」）へ進められるかをご判断いただく。</a:t>
            </a:r>
            <a:endParaRPr b="0" i="0" sz="1212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32" name="Google Shape;132;h75c6641a97eb45fb_2_81"/>
          <p:cNvSpPr/>
          <p:nvPr/>
        </p:nvSpPr>
        <p:spPr>
          <a:xfrm>
            <a:off x="362500" y="1697253"/>
            <a:ext cx="11055300" cy="149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17850" lIns="117850" spcFirstLastPara="1" rIns="117850" wrap="square" tIns="117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h75c6641a97eb45fb_2_81"/>
          <p:cNvSpPr/>
          <p:nvPr/>
        </p:nvSpPr>
        <p:spPr>
          <a:xfrm>
            <a:off x="362500" y="1697253"/>
            <a:ext cx="11055300" cy="3417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txBody>
          <a:bodyPr anchorCtr="0" anchor="ctr" bIns="117850" lIns="117850" spcFirstLastPara="1" rIns="117850" wrap="square" tIns="117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h75c6641a97eb45fb_2_81"/>
          <p:cNvSpPr txBox="1"/>
          <p:nvPr/>
        </p:nvSpPr>
        <p:spPr>
          <a:xfrm>
            <a:off x="477958" y="1697253"/>
            <a:ext cx="108243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4FA1"/>
              </a:buClr>
              <a:buSzPts val="1096"/>
              <a:buFont typeface="Noto Sans JP"/>
              <a:buNone/>
            </a:pPr>
            <a:r>
              <a:rPr b="1" i="0" lang="ja-JP" sz="1096" u="none" cap="none" strike="noStrike">
                <a:solidFill>
                  <a:srgbClr val="1E4FA1"/>
                </a:solidFill>
                <a:latin typeface="Noto Sans JP"/>
                <a:ea typeface="Noto Sans JP"/>
                <a:cs typeface="Noto Sans JP"/>
                <a:sym typeface="Noto Sans JP"/>
              </a:rPr>
              <a:t>検証フェーズ　本部コード追加：なし</a:t>
            </a:r>
            <a:endParaRPr b="0" i="0" sz="1096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35" name="Google Shape;135;h75c6641a97eb45fb_2_81"/>
          <p:cNvSpPr/>
          <p:nvPr/>
        </p:nvSpPr>
        <p:spPr>
          <a:xfrm>
            <a:off x="539297" y="2168711"/>
            <a:ext cx="1967100" cy="919200"/>
          </a:xfrm>
          <a:prstGeom prst="rect">
            <a:avLst/>
          </a:prstGeom>
          <a:solidFill>
            <a:srgbClr val="FFFFFF"/>
          </a:solidFill>
          <a:ln cap="flat" cmpd="sng" w="12275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850" lIns="117850" spcFirstLastPara="1" rIns="117850" wrap="square" tIns="117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h75c6641a97eb45fb_2_81"/>
          <p:cNvSpPr txBox="1"/>
          <p:nvPr/>
        </p:nvSpPr>
        <p:spPr>
          <a:xfrm>
            <a:off x="623486" y="2168711"/>
            <a:ext cx="17988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4FA1"/>
              </a:buClr>
              <a:buSzPts val="877"/>
              <a:buFont typeface="Noto Sans JP"/>
              <a:buNone/>
            </a:pPr>
            <a:r>
              <a:rPr b="1" i="0" lang="ja-JP" sz="877" u="none" cap="none" strike="noStrike">
                <a:solidFill>
                  <a:srgbClr val="1E4FA1"/>
                </a:solidFill>
                <a:latin typeface="Noto Sans JP"/>
                <a:ea typeface="Noto Sans JP"/>
                <a:cs typeface="Noto Sans JP"/>
                <a:sym typeface="Noto Sans JP"/>
              </a:rPr>
              <a:t>①</a:t>
            </a:r>
            <a:r>
              <a:rPr b="1" i="0" lang="ja-JP" sz="1147" u="none" cap="none" strike="noStrike">
                <a:solidFill>
                  <a:srgbClr val="222222"/>
                </a:solidFill>
                <a:latin typeface="Noto Sans JP"/>
                <a:ea typeface="Noto Sans JP"/>
                <a:cs typeface="Noto Sans JP"/>
                <a:sym typeface="Noto Sans JP"/>
              </a:rPr>
              <a:t>着手前</a:t>
            </a:r>
            <a:endParaRPr b="0" i="0" sz="1096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99"/>
              <a:buFont typeface="Noto Sans JP"/>
              <a:buNone/>
            </a:pPr>
            <a:r>
              <a:rPr b="0" i="0" lang="ja-JP" sz="799" u="none" cap="none" strike="noStrike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検証・実証を含めプロジェクト全体で何をどこまで、どのタイミングで行うのかを整理、関係者での進行の合意。</a:t>
            </a:r>
            <a:endParaRPr b="0" i="0" sz="799" u="none" cap="none" strike="noStrike">
              <a:solidFill>
                <a:srgbClr val="666666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99"/>
              <a:buFont typeface="Noto Sans JP"/>
              <a:buNone/>
            </a:pPr>
            <a:r>
              <a:rPr b="0" i="0" lang="ja-JP" sz="799" u="none" cap="none" strike="noStrike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および金融庁への事前相談の実施。</a:t>
            </a:r>
            <a:endParaRPr b="0" i="0" sz="799" u="none" cap="none" strike="noStrike">
              <a:solidFill>
                <a:srgbClr val="666666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37" name="Google Shape;137;h75c6641a97eb45fb_2_81"/>
          <p:cNvSpPr/>
          <p:nvPr/>
        </p:nvSpPr>
        <p:spPr>
          <a:xfrm rot="5400000">
            <a:off x="2530517" y="2568194"/>
            <a:ext cx="168300" cy="120300"/>
          </a:xfrm>
          <a:prstGeom prst="triangle">
            <a:avLst>
              <a:gd fmla="val 50000" name="adj"/>
            </a:avLst>
          </a:prstGeom>
          <a:solidFill>
            <a:srgbClr val="3B5A8F"/>
          </a:solidFill>
          <a:ln>
            <a:noFill/>
          </a:ln>
        </p:spPr>
        <p:txBody>
          <a:bodyPr anchorCtr="0" anchor="ctr" bIns="117850" lIns="117850" spcFirstLastPara="1" rIns="117850" wrap="square" tIns="117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h75c6641a97eb45fb_2_81"/>
          <p:cNvSpPr/>
          <p:nvPr/>
        </p:nvSpPr>
        <p:spPr>
          <a:xfrm>
            <a:off x="2722925" y="2168711"/>
            <a:ext cx="1967100" cy="919200"/>
          </a:xfrm>
          <a:prstGeom prst="rect">
            <a:avLst/>
          </a:prstGeom>
          <a:solidFill>
            <a:srgbClr val="FFFFFF"/>
          </a:solidFill>
          <a:ln cap="flat" cmpd="sng" w="12275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850" lIns="117850" spcFirstLastPara="1" rIns="117850" wrap="square" tIns="117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h75c6641a97eb45fb_2_81"/>
          <p:cNvSpPr txBox="1"/>
          <p:nvPr/>
        </p:nvSpPr>
        <p:spPr>
          <a:xfrm>
            <a:off x="2807114" y="2168711"/>
            <a:ext cx="17988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4FA1"/>
              </a:buClr>
              <a:buSzPts val="877"/>
              <a:buFont typeface="Noto Sans JP"/>
              <a:buNone/>
            </a:pPr>
            <a:r>
              <a:rPr b="1" i="0" lang="ja-JP" sz="877" u="none" cap="none" strike="noStrike">
                <a:solidFill>
                  <a:srgbClr val="1E4FA1"/>
                </a:solidFill>
                <a:latin typeface="Noto Sans JP"/>
                <a:ea typeface="Noto Sans JP"/>
                <a:cs typeface="Noto Sans JP"/>
                <a:sym typeface="Noto Sans JP"/>
              </a:rPr>
              <a:t>②</a:t>
            </a:r>
            <a:r>
              <a:rPr b="1" i="0" lang="ja-JP" sz="1147" u="none" cap="none" strike="noStrike">
                <a:solidFill>
                  <a:srgbClr val="222222"/>
                </a:solidFill>
                <a:latin typeface="Noto Sans JP"/>
                <a:ea typeface="Noto Sans JP"/>
                <a:cs typeface="Noto Sans JP"/>
                <a:sym typeface="Noto Sans JP"/>
              </a:rPr>
              <a:t>要件定義（DSK実施）</a:t>
            </a:r>
            <a:endParaRPr b="0" i="0" sz="1096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99"/>
              <a:buFont typeface="Noto Sans JP"/>
              <a:buNone/>
            </a:pPr>
            <a:r>
              <a:rPr b="0" i="0" lang="ja-JP" sz="799" u="none" cap="none" strike="noStrike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支払いから収納データの生成・連携までの要件定義</a:t>
            </a:r>
            <a:endParaRPr b="0" i="0" sz="1096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40" name="Google Shape;140;h75c6641a97eb45fb_2_81"/>
          <p:cNvSpPr/>
          <p:nvPr/>
        </p:nvSpPr>
        <p:spPr>
          <a:xfrm rot="5400000">
            <a:off x="4714145" y="2568194"/>
            <a:ext cx="168300" cy="120300"/>
          </a:xfrm>
          <a:prstGeom prst="triangle">
            <a:avLst>
              <a:gd fmla="val 50000" name="adj"/>
            </a:avLst>
          </a:prstGeom>
          <a:solidFill>
            <a:srgbClr val="3B5A8F"/>
          </a:solidFill>
          <a:ln>
            <a:noFill/>
          </a:ln>
        </p:spPr>
        <p:txBody>
          <a:bodyPr anchorCtr="0" anchor="ctr" bIns="117850" lIns="117850" spcFirstLastPara="1" rIns="117850" wrap="square" tIns="117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h75c6641a97eb45fb_2_81"/>
          <p:cNvSpPr/>
          <p:nvPr/>
        </p:nvSpPr>
        <p:spPr>
          <a:xfrm>
            <a:off x="4906553" y="2168711"/>
            <a:ext cx="1967100" cy="919200"/>
          </a:xfrm>
          <a:prstGeom prst="rect">
            <a:avLst/>
          </a:prstGeom>
          <a:solidFill>
            <a:srgbClr val="FFFFFF"/>
          </a:solidFill>
          <a:ln cap="flat" cmpd="sng" w="12275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850" lIns="117850" spcFirstLastPara="1" rIns="117850" wrap="square" tIns="117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h75c6641a97eb45fb_2_81"/>
          <p:cNvSpPr txBox="1"/>
          <p:nvPr/>
        </p:nvSpPr>
        <p:spPr>
          <a:xfrm>
            <a:off x="4990742" y="2168711"/>
            <a:ext cx="17988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4FA1"/>
              </a:buClr>
              <a:buSzPts val="877"/>
              <a:buFont typeface="Noto Sans JP"/>
              <a:buNone/>
            </a:pPr>
            <a:r>
              <a:rPr b="1" i="0" lang="ja-JP" sz="877" u="none" cap="none" strike="noStrike">
                <a:solidFill>
                  <a:srgbClr val="1E4FA1"/>
                </a:solidFill>
                <a:latin typeface="Noto Sans JP"/>
                <a:ea typeface="Noto Sans JP"/>
                <a:cs typeface="Noto Sans JP"/>
                <a:sym typeface="Noto Sans JP"/>
              </a:rPr>
              <a:t>③</a:t>
            </a:r>
            <a:r>
              <a:rPr b="1" i="0" lang="ja-JP" sz="1147" u="none" cap="none" strike="noStrike">
                <a:solidFill>
                  <a:srgbClr val="222222"/>
                </a:solidFill>
                <a:latin typeface="Noto Sans JP"/>
                <a:ea typeface="Noto Sans JP"/>
                <a:cs typeface="Noto Sans JP"/>
                <a:sym typeface="Noto Sans JP"/>
              </a:rPr>
              <a:t>設計（DSK実施）</a:t>
            </a:r>
            <a:endParaRPr b="0" i="0" sz="1096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99"/>
              <a:buFont typeface="Noto Sans JP"/>
              <a:buNone/>
            </a:pPr>
            <a:r>
              <a:rPr b="0" i="0" lang="ja-JP" sz="799" u="none" cap="none" strike="noStrike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基本設計・詳細設計</a:t>
            </a:r>
            <a:endParaRPr b="0" i="0" sz="1096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43" name="Google Shape;143;h75c6641a97eb45fb_2_81"/>
          <p:cNvSpPr/>
          <p:nvPr/>
        </p:nvSpPr>
        <p:spPr>
          <a:xfrm rot="5400000">
            <a:off x="6897773" y="2568194"/>
            <a:ext cx="168300" cy="120300"/>
          </a:xfrm>
          <a:prstGeom prst="triangle">
            <a:avLst>
              <a:gd fmla="val 50000" name="adj"/>
            </a:avLst>
          </a:prstGeom>
          <a:solidFill>
            <a:srgbClr val="3B5A8F"/>
          </a:solidFill>
          <a:ln>
            <a:noFill/>
          </a:ln>
        </p:spPr>
        <p:txBody>
          <a:bodyPr anchorCtr="0" anchor="ctr" bIns="117850" lIns="117850" spcFirstLastPara="1" rIns="117850" wrap="square" tIns="117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h75c6641a97eb45fb_2_81"/>
          <p:cNvSpPr/>
          <p:nvPr/>
        </p:nvSpPr>
        <p:spPr>
          <a:xfrm>
            <a:off x="7090180" y="2168711"/>
            <a:ext cx="1967100" cy="919200"/>
          </a:xfrm>
          <a:prstGeom prst="rect">
            <a:avLst/>
          </a:prstGeom>
          <a:solidFill>
            <a:srgbClr val="FFFFFF"/>
          </a:solidFill>
          <a:ln cap="flat" cmpd="sng" w="12275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850" lIns="117850" spcFirstLastPara="1" rIns="117850" wrap="square" tIns="117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h75c6641a97eb45fb_2_81"/>
          <p:cNvSpPr txBox="1"/>
          <p:nvPr/>
        </p:nvSpPr>
        <p:spPr>
          <a:xfrm>
            <a:off x="7174370" y="2168711"/>
            <a:ext cx="17988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4FA1"/>
              </a:buClr>
              <a:buSzPts val="877"/>
              <a:buFont typeface="Noto Sans JP"/>
              <a:buNone/>
            </a:pPr>
            <a:r>
              <a:rPr b="1" i="0" lang="ja-JP" sz="877" u="none" cap="none" strike="noStrike">
                <a:solidFill>
                  <a:srgbClr val="1E4FA1"/>
                </a:solidFill>
                <a:latin typeface="Noto Sans JP"/>
                <a:ea typeface="Noto Sans JP"/>
                <a:cs typeface="Noto Sans JP"/>
                <a:sym typeface="Noto Sans JP"/>
              </a:rPr>
              <a:t>④</a:t>
            </a:r>
            <a:r>
              <a:rPr b="1" i="0" lang="ja-JP" sz="1147" u="none" cap="none" strike="noStrike">
                <a:solidFill>
                  <a:srgbClr val="222222"/>
                </a:solidFill>
                <a:latin typeface="Noto Sans JP"/>
                <a:ea typeface="Noto Sans JP"/>
                <a:cs typeface="Noto Sans JP"/>
                <a:sym typeface="Noto Sans JP"/>
              </a:rPr>
              <a:t>開発（DSK実施）</a:t>
            </a:r>
            <a:endParaRPr b="0" i="0" sz="1096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99"/>
              <a:buFont typeface="Noto Sans JP"/>
              <a:buNone/>
            </a:pPr>
            <a:r>
              <a:rPr b="0" i="0" lang="ja-JP" sz="799" u="none" cap="none" strike="noStrike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SC収納システム・収納代行連携・Mini Appからの支払い</a:t>
            </a:r>
            <a:endParaRPr b="0" i="0" sz="1096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46" name="Google Shape;146;h75c6641a97eb45fb_2_81"/>
          <p:cNvSpPr/>
          <p:nvPr/>
        </p:nvSpPr>
        <p:spPr>
          <a:xfrm rot="5400000">
            <a:off x="9081401" y="2568194"/>
            <a:ext cx="168300" cy="120300"/>
          </a:xfrm>
          <a:prstGeom prst="triangle">
            <a:avLst>
              <a:gd fmla="val 50000" name="adj"/>
            </a:avLst>
          </a:prstGeom>
          <a:solidFill>
            <a:srgbClr val="3B5A8F"/>
          </a:solidFill>
          <a:ln>
            <a:noFill/>
          </a:ln>
        </p:spPr>
        <p:txBody>
          <a:bodyPr anchorCtr="0" anchor="ctr" bIns="117850" lIns="117850" spcFirstLastPara="1" rIns="117850" wrap="square" tIns="117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h75c6641a97eb45fb_2_81"/>
          <p:cNvSpPr/>
          <p:nvPr/>
        </p:nvSpPr>
        <p:spPr>
          <a:xfrm>
            <a:off x="9273808" y="2168711"/>
            <a:ext cx="1967100" cy="919200"/>
          </a:xfrm>
          <a:prstGeom prst="rect">
            <a:avLst/>
          </a:prstGeom>
          <a:solidFill>
            <a:srgbClr val="EEF3FB"/>
          </a:solidFill>
          <a:ln cap="flat" cmpd="sng" w="17975">
            <a:solidFill>
              <a:srgbClr val="1F56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850" lIns="117850" spcFirstLastPara="1" rIns="117850" wrap="square" tIns="117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h75c6641a97eb45fb_2_81"/>
          <p:cNvSpPr txBox="1"/>
          <p:nvPr/>
        </p:nvSpPr>
        <p:spPr>
          <a:xfrm>
            <a:off x="9357998" y="2168711"/>
            <a:ext cx="17988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4FA1"/>
              </a:buClr>
              <a:buSzPts val="877"/>
              <a:buFont typeface="Noto Sans JP"/>
              <a:buNone/>
            </a:pPr>
            <a:r>
              <a:rPr b="1" i="0" lang="ja-JP" sz="877" u="none" cap="none" strike="noStrike">
                <a:solidFill>
                  <a:srgbClr val="1E4FA1"/>
                </a:solidFill>
                <a:latin typeface="Noto Sans JP"/>
                <a:ea typeface="Noto Sans JP"/>
                <a:cs typeface="Noto Sans JP"/>
                <a:sym typeface="Noto Sans JP"/>
              </a:rPr>
              <a:t>⑤</a:t>
            </a:r>
            <a:r>
              <a:rPr b="1" i="0" lang="ja-JP" sz="1147" u="none" cap="none" strike="noStrike">
                <a:solidFill>
                  <a:srgbClr val="222222"/>
                </a:solidFill>
                <a:latin typeface="Noto Sans JP"/>
                <a:ea typeface="Noto Sans JP"/>
                <a:cs typeface="Noto Sans JP"/>
                <a:sym typeface="Noto Sans JP"/>
              </a:rPr>
              <a:t>検証（DSK実施）</a:t>
            </a:r>
            <a:endParaRPr b="0" i="0" sz="1096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99"/>
              <a:buFont typeface="Noto Sans JP"/>
              <a:buNone/>
            </a:pPr>
            <a:r>
              <a:rPr b="0" i="0" lang="ja-JP" sz="799" u="none" cap="none" strike="noStrike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テスト用の払込票・トークンで確認。</a:t>
            </a:r>
            <a:endParaRPr b="0" i="0" sz="799" u="none" cap="none" strike="noStrike">
              <a:solidFill>
                <a:srgbClr val="666666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99"/>
              <a:buFont typeface="Noto Sans JP"/>
              <a:buNone/>
            </a:pPr>
            <a:r>
              <a:rPr b="0" i="0" lang="ja-JP" sz="799" u="none" cap="none" strike="noStrike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既存の本部コードを流用した収納データが生成されることまでを確認</a:t>
            </a:r>
            <a:endParaRPr b="0" i="0" sz="799" u="none" cap="none" strike="noStrike">
              <a:solidFill>
                <a:srgbClr val="666666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49" name="Google Shape;149;h75c6641a97eb45fb_2_81"/>
          <p:cNvSpPr txBox="1"/>
          <p:nvPr/>
        </p:nvSpPr>
        <p:spPr>
          <a:xfrm>
            <a:off x="516445" y="3392576"/>
            <a:ext cx="10747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8A64A"/>
              </a:buClr>
              <a:buSzPts val="1121"/>
              <a:buFont typeface="Noto Sans JP"/>
              <a:buNone/>
            </a:pPr>
            <a:r>
              <a:rPr b="1" i="0" lang="ja-JP" sz="1121" u="none" cap="none" strike="noStrike">
                <a:solidFill>
                  <a:srgbClr val="C8A64A"/>
                </a:solidFill>
                <a:latin typeface="Noto Sans JP"/>
                <a:ea typeface="Noto Sans JP"/>
                <a:cs typeface="Noto Sans JP"/>
                <a:sym typeface="Noto Sans JP"/>
              </a:rPr>
              <a:t> </a:t>
            </a:r>
            <a:r>
              <a:rPr b="1" i="0" lang="ja-JP" sz="1121" u="none" cap="none" strike="noStrike">
                <a:solidFill>
                  <a:srgbClr val="222233"/>
                </a:solidFill>
                <a:latin typeface="Noto Sans JP"/>
                <a:ea typeface="Noto Sans JP"/>
                <a:cs typeface="Noto Sans JP"/>
                <a:sym typeface="Noto Sans JP"/>
              </a:rPr>
              <a:t>実証実施の判断：検証結果をもとに、実証へ進むかをご判断いただく</a:t>
            </a:r>
            <a:endParaRPr b="0" i="0" sz="1121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50" name="Google Shape;150;h75c6641a97eb45fb_2_81"/>
          <p:cNvSpPr/>
          <p:nvPr/>
        </p:nvSpPr>
        <p:spPr>
          <a:xfrm>
            <a:off x="362500" y="4671882"/>
            <a:ext cx="11055300" cy="149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17850" lIns="117850" spcFirstLastPara="1" rIns="117850" wrap="square" tIns="117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h75c6641a97eb45fb_2_81"/>
          <p:cNvSpPr/>
          <p:nvPr/>
        </p:nvSpPr>
        <p:spPr>
          <a:xfrm>
            <a:off x="362500" y="4671882"/>
            <a:ext cx="11055300" cy="341700"/>
          </a:xfrm>
          <a:prstGeom prst="rect">
            <a:avLst/>
          </a:prstGeom>
          <a:solidFill>
            <a:srgbClr val="FAF5E4"/>
          </a:solidFill>
          <a:ln>
            <a:noFill/>
          </a:ln>
        </p:spPr>
        <p:txBody>
          <a:bodyPr anchorCtr="0" anchor="ctr" bIns="117850" lIns="117850" spcFirstLastPara="1" rIns="117850" wrap="square" tIns="117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h75c6641a97eb45fb_2_81"/>
          <p:cNvSpPr txBox="1"/>
          <p:nvPr/>
        </p:nvSpPr>
        <p:spPr>
          <a:xfrm>
            <a:off x="477958" y="4671882"/>
            <a:ext cx="108243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A6D1F"/>
              </a:buClr>
              <a:buSzPts val="1096"/>
              <a:buFont typeface="Noto Sans JP"/>
              <a:buNone/>
            </a:pPr>
            <a:r>
              <a:rPr b="1" i="0" lang="ja-JP" sz="1096" u="none" cap="none" strike="noStrike">
                <a:solidFill>
                  <a:srgbClr val="8A6D1F"/>
                </a:solidFill>
                <a:latin typeface="Noto Sans JP"/>
                <a:ea typeface="Noto Sans JP"/>
                <a:cs typeface="Noto Sans JP"/>
                <a:sym typeface="Noto Sans JP"/>
              </a:rPr>
              <a:t>実証フェーズ　本部コード追加：あり</a:t>
            </a:r>
            <a:endParaRPr b="0" i="0" sz="1096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53" name="Google Shape;153;h75c6641a97eb45fb_2_81"/>
          <p:cNvSpPr/>
          <p:nvPr/>
        </p:nvSpPr>
        <p:spPr>
          <a:xfrm>
            <a:off x="539297" y="5143341"/>
            <a:ext cx="3423000" cy="919200"/>
          </a:xfrm>
          <a:prstGeom prst="rect">
            <a:avLst/>
          </a:prstGeom>
          <a:solidFill>
            <a:srgbClr val="FFFFFF"/>
          </a:solidFill>
          <a:ln cap="flat" cmpd="sng" w="12275">
            <a:solidFill>
              <a:srgbClr val="C8A64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17850" lIns="117850" spcFirstLastPara="1" rIns="117850" wrap="square" tIns="117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h75c6641a97eb45fb_2_81"/>
          <p:cNvSpPr txBox="1"/>
          <p:nvPr/>
        </p:nvSpPr>
        <p:spPr>
          <a:xfrm>
            <a:off x="623486" y="5143341"/>
            <a:ext cx="32544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A6D1F"/>
              </a:buClr>
              <a:buSzPts val="877"/>
              <a:buFont typeface="Noto Sans JP"/>
              <a:buNone/>
            </a:pPr>
            <a:r>
              <a:rPr b="1" i="0" lang="ja-JP" sz="877" u="none" cap="none" strike="noStrike">
                <a:solidFill>
                  <a:srgbClr val="8A6D1F"/>
                </a:solidFill>
                <a:latin typeface="Noto Sans JP"/>
                <a:ea typeface="Noto Sans JP"/>
                <a:cs typeface="Noto Sans JP"/>
                <a:sym typeface="Noto Sans JP"/>
              </a:rPr>
              <a:t>①</a:t>
            </a:r>
            <a:r>
              <a:rPr b="1" i="0" lang="ja-JP" sz="1147" u="none" cap="none" strike="noStrike">
                <a:solidFill>
                  <a:srgbClr val="222222"/>
                </a:solidFill>
                <a:latin typeface="Noto Sans JP"/>
                <a:ea typeface="Noto Sans JP"/>
                <a:cs typeface="Noto Sans JP"/>
                <a:sym typeface="Noto Sans JP"/>
              </a:rPr>
              <a:t>本部コードの追加改修と検証</a:t>
            </a:r>
            <a:endParaRPr b="0" i="0" sz="1096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99"/>
              <a:buFont typeface="Noto Sans JP"/>
              <a:buNone/>
            </a:pPr>
            <a:r>
              <a:rPr b="0" i="0" lang="ja-JP" sz="799" u="none" cap="none" strike="noStrike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本部コードの追加をご対応いただき、</a:t>
            </a:r>
            <a:endParaRPr b="0" i="0" sz="799" u="none" cap="none" strike="noStrike">
              <a:solidFill>
                <a:srgbClr val="666666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99"/>
              <a:buFont typeface="Noto Sans JP"/>
              <a:buNone/>
            </a:pPr>
            <a:r>
              <a:rPr b="0" i="0" lang="ja-JP" sz="799" u="none" cap="none" strike="noStrike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取り込み・消込が従来どおり回るかを確認</a:t>
            </a:r>
            <a:endParaRPr b="0" i="0" sz="1096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55" name="Google Shape;155;h75c6641a97eb45fb_2_81"/>
          <p:cNvSpPr/>
          <p:nvPr/>
        </p:nvSpPr>
        <p:spPr>
          <a:xfrm rot="5400000">
            <a:off x="3986269" y="5542824"/>
            <a:ext cx="168300" cy="120300"/>
          </a:xfrm>
          <a:prstGeom prst="triangle">
            <a:avLst>
              <a:gd fmla="val 50000" name="adj"/>
            </a:avLst>
          </a:prstGeom>
          <a:solidFill>
            <a:srgbClr val="C8A64A"/>
          </a:solidFill>
          <a:ln>
            <a:noFill/>
          </a:ln>
        </p:spPr>
        <p:txBody>
          <a:bodyPr anchorCtr="0" anchor="ctr" bIns="117850" lIns="117850" spcFirstLastPara="1" rIns="117850" wrap="square" tIns="117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h75c6641a97eb45fb_2_81"/>
          <p:cNvSpPr/>
          <p:nvPr/>
        </p:nvSpPr>
        <p:spPr>
          <a:xfrm>
            <a:off x="4178677" y="5143341"/>
            <a:ext cx="3423000" cy="919200"/>
          </a:xfrm>
          <a:prstGeom prst="rect">
            <a:avLst/>
          </a:prstGeom>
          <a:solidFill>
            <a:srgbClr val="FFFFFF"/>
          </a:solidFill>
          <a:ln cap="flat" cmpd="sng" w="12275">
            <a:solidFill>
              <a:srgbClr val="C8A64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17850" lIns="117850" spcFirstLastPara="1" rIns="117850" wrap="square" tIns="117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h75c6641a97eb45fb_2_81"/>
          <p:cNvSpPr txBox="1"/>
          <p:nvPr/>
        </p:nvSpPr>
        <p:spPr>
          <a:xfrm>
            <a:off x="4262866" y="5143341"/>
            <a:ext cx="32544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A6D1F"/>
              </a:buClr>
              <a:buSzPts val="877"/>
              <a:buFont typeface="Noto Sans JP"/>
              <a:buNone/>
            </a:pPr>
            <a:r>
              <a:rPr b="1" i="0" lang="ja-JP" sz="877" u="none" cap="none" strike="noStrike">
                <a:solidFill>
                  <a:srgbClr val="8A6D1F"/>
                </a:solidFill>
                <a:latin typeface="Noto Sans JP"/>
                <a:ea typeface="Noto Sans JP"/>
                <a:cs typeface="Noto Sans JP"/>
                <a:sym typeface="Noto Sans JP"/>
              </a:rPr>
              <a:t>②</a:t>
            </a:r>
            <a:r>
              <a:rPr b="1" i="0" lang="ja-JP" sz="1147" u="none" cap="none" strike="noStrike">
                <a:solidFill>
                  <a:srgbClr val="222222"/>
                </a:solidFill>
                <a:latin typeface="Noto Sans JP"/>
                <a:ea typeface="Noto Sans JP"/>
                <a:cs typeface="Noto Sans JP"/>
                <a:sym typeface="Noto Sans JP"/>
              </a:rPr>
              <a:t>実証</a:t>
            </a:r>
            <a:endParaRPr b="0" i="0" sz="1096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99"/>
              <a:buFont typeface="Noto Sans JP"/>
              <a:buNone/>
            </a:pPr>
            <a:r>
              <a:rPr b="0" i="0" lang="ja-JP" sz="799" u="none" cap="none" strike="noStrike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本番環境でJPYSCで支払い、日本円の入金まで実施しKPIを測定</a:t>
            </a:r>
            <a:endParaRPr b="0" i="0" sz="1096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58" name="Google Shape;158;h75c6641a97eb45fb_2_81"/>
          <p:cNvSpPr/>
          <p:nvPr/>
        </p:nvSpPr>
        <p:spPr>
          <a:xfrm rot="5400000">
            <a:off x="7625648" y="5542824"/>
            <a:ext cx="168300" cy="120300"/>
          </a:xfrm>
          <a:prstGeom prst="triangle">
            <a:avLst>
              <a:gd fmla="val 50000" name="adj"/>
            </a:avLst>
          </a:prstGeom>
          <a:solidFill>
            <a:srgbClr val="C8A64A"/>
          </a:solidFill>
          <a:ln>
            <a:noFill/>
          </a:ln>
        </p:spPr>
        <p:txBody>
          <a:bodyPr anchorCtr="0" anchor="ctr" bIns="117850" lIns="117850" spcFirstLastPara="1" rIns="117850" wrap="square" tIns="117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h75c6641a97eb45fb_2_81"/>
          <p:cNvSpPr/>
          <p:nvPr/>
        </p:nvSpPr>
        <p:spPr>
          <a:xfrm>
            <a:off x="7818057" y="5143341"/>
            <a:ext cx="3423000" cy="919200"/>
          </a:xfrm>
          <a:prstGeom prst="rect">
            <a:avLst/>
          </a:prstGeom>
          <a:solidFill>
            <a:srgbClr val="FFFFFF"/>
          </a:solidFill>
          <a:ln cap="flat" cmpd="sng" w="12275">
            <a:solidFill>
              <a:srgbClr val="C8A64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17850" lIns="117850" spcFirstLastPara="1" rIns="117850" wrap="square" tIns="117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h75c6641a97eb45fb_2_81"/>
          <p:cNvSpPr txBox="1"/>
          <p:nvPr/>
        </p:nvSpPr>
        <p:spPr>
          <a:xfrm>
            <a:off x="7902245" y="5143341"/>
            <a:ext cx="32544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A6D1F"/>
              </a:buClr>
              <a:buSzPts val="877"/>
              <a:buFont typeface="Noto Sans JP"/>
              <a:buNone/>
            </a:pPr>
            <a:r>
              <a:rPr b="1" i="0" lang="ja-JP" sz="877" u="none" cap="none" strike="noStrike">
                <a:solidFill>
                  <a:srgbClr val="8A6D1F"/>
                </a:solidFill>
                <a:latin typeface="Noto Sans JP"/>
                <a:ea typeface="Noto Sans JP"/>
                <a:cs typeface="Noto Sans JP"/>
                <a:sym typeface="Noto Sans JP"/>
              </a:rPr>
              <a:t>③</a:t>
            </a:r>
            <a:r>
              <a:rPr b="1" i="0" lang="ja-JP" sz="1147" u="none" cap="none" strike="noStrike">
                <a:solidFill>
                  <a:srgbClr val="222222"/>
                </a:solidFill>
                <a:latin typeface="Noto Sans JP"/>
                <a:ea typeface="Noto Sans JP"/>
                <a:cs typeface="Noto Sans JP"/>
                <a:sym typeface="Noto Sans JP"/>
              </a:rPr>
              <a:t>評価</a:t>
            </a:r>
            <a:endParaRPr b="0" i="0" sz="1096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799"/>
              <a:buFont typeface="Noto Sans JP"/>
              <a:buNone/>
            </a:pPr>
            <a:r>
              <a:rPr b="0" i="0" lang="ja-JP" sz="799" u="none" cap="none" strike="noStrike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評価報告書の作成、Step2実施要否の検討</a:t>
            </a:r>
            <a:endParaRPr b="0" i="0" sz="1096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161" name="Google Shape;161;h75c6641a97eb45fb_2_81"/>
          <p:cNvSpPr/>
          <p:nvPr/>
        </p:nvSpPr>
        <p:spPr>
          <a:xfrm>
            <a:off x="4479300" y="3968013"/>
            <a:ext cx="2862900" cy="6033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3B5A8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h75c6641a97eb45fb_2_102"/>
          <p:cNvSpPr txBox="1"/>
          <p:nvPr>
            <p:ph type="title"/>
          </p:nvPr>
        </p:nvSpPr>
        <p:spPr>
          <a:xfrm>
            <a:off x="838200" y="254517"/>
            <a:ext cx="105156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2652"/>
              </a:buClr>
              <a:buSzPts val="2000"/>
              <a:buFont typeface="Meiryo"/>
              <a:buNone/>
            </a:pPr>
            <a:r>
              <a:rPr b="1" lang="ja-JP" sz="2000"/>
              <a:t>各ステップで行うこと</a:t>
            </a:r>
            <a:endParaRPr b="1" sz="2000"/>
          </a:p>
        </p:txBody>
      </p:sp>
      <p:sp>
        <p:nvSpPr>
          <p:cNvPr id="168" name="Google Shape;168;h75c6641a97eb45fb_2_10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© DSK.All Rights Reserved.</a:t>
            </a:r>
            <a:endParaRPr/>
          </a:p>
        </p:txBody>
      </p:sp>
      <p:sp>
        <p:nvSpPr>
          <p:cNvPr id="169" name="Google Shape;169;h75c6641a97eb45fb_2_10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170" name="Google Shape;170;h75c6641a97eb45fb_2_102"/>
          <p:cNvSpPr txBox="1"/>
          <p:nvPr/>
        </p:nvSpPr>
        <p:spPr>
          <a:xfrm>
            <a:off x="8497400" y="6338800"/>
            <a:ext cx="116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-JP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h75c6641a97eb45fb_2_10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ja-JP"/>
              <a:t>2026/9/28</a:t>
            </a:r>
            <a:endParaRPr/>
          </a:p>
        </p:txBody>
      </p:sp>
      <p:sp>
        <p:nvSpPr>
          <p:cNvPr id="172" name="Google Shape;172;h75c6641a97eb45fb_2_102"/>
          <p:cNvSpPr txBox="1"/>
          <p:nvPr/>
        </p:nvSpPr>
        <p:spPr>
          <a:xfrm>
            <a:off x="326300" y="943675"/>
            <a:ext cx="10390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889"/>
              <a:buFont typeface="Noto Sans JP"/>
              <a:buNone/>
            </a:pPr>
            <a:r>
              <a:rPr b="0" i="0" lang="ja-JP" sz="890" u="none" cap="none" strike="noStrike">
                <a:solidFill>
                  <a:srgbClr val="777777"/>
                </a:solidFill>
                <a:latin typeface="Noto Sans JP"/>
                <a:ea typeface="Noto Sans JP"/>
                <a:cs typeface="Noto Sans JP"/>
                <a:sym typeface="Noto Sans JP"/>
              </a:rPr>
              <a:t>検証フェーズ（①〜⑤）はDSKが主に開発～検証を担い、大阪府徴税対策課様には①着手前の事前協議へのご参加をお願いしたいです。</a:t>
            </a:r>
            <a:endParaRPr b="0" i="0" sz="890" u="none" cap="none" strike="noStrike">
              <a:solidFill>
                <a:srgbClr val="777777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889"/>
              <a:buFont typeface="Noto Sans JP"/>
              <a:buNone/>
            </a:pPr>
            <a:r>
              <a:rPr b="0" i="0" lang="ja-JP" sz="890" u="none" cap="none" strike="noStrike">
                <a:solidFill>
                  <a:srgbClr val="777777"/>
                </a:solidFill>
                <a:latin typeface="Noto Sans JP"/>
                <a:ea typeface="Noto Sans JP"/>
                <a:cs typeface="Noto Sans JP"/>
                <a:sym typeface="Noto Sans JP"/>
              </a:rPr>
              <a:t>また⑤検証フェーズが完了した際には、テストアプリ等を通して実際の使用感もご確認をいただき、実証実施のご判断をいただければと考えております。</a:t>
            </a:r>
            <a:endParaRPr b="0" i="0" sz="890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aphicFrame>
        <p:nvGraphicFramePr>
          <p:cNvPr id="173" name="Google Shape;173;h75c6641a97eb45fb_2_102"/>
          <p:cNvGraphicFramePr/>
          <p:nvPr/>
        </p:nvGraphicFramePr>
        <p:xfrm>
          <a:off x="326301" y="15288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{8FB3DCA4-757D-4564-B0D9-2AFA57E06221}</a:tableStyleId>
              </a:tblPr>
              <a:tblGrid>
                <a:gridCol w="1276500"/>
                <a:gridCol w="2276925"/>
                <a:gridCol w="7385900"/>
              </a:tblGrid>
              <a:tr h="44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t/>
                      </a:r>
                      <a:endParaRPr b="1" sz="950" u="none" cap="none" strike="noStrike">
                        <a:solidFill>
                          <a:schemeClr val="dk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50"/>
                        <a:buFont typeface="Noto Sans JP"/>
                        <a:buNone/>
                      </a:pPr>
                      <a:r>
                        <a:rPr b="1" lang="ja-JP" sz="950" u="none" cap="none" strike="noStrike">
                          <a:solidFill>
                            <a:schemeClr val="dk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ステップ</a:t>
                      </a:r>
                      <a:endParaRPr b="1" sz="950" u="none" cap="none" strike="noStrike">
                        <a:solidFill>
                          <a:schemeClr val="dk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50"/>
                        <a:buFont typeface="Noto Sans JP"/>
                        <a:buNone/>
                      </a:pPr>
                      <a:r>
                        <a:rPr b="1" lang="ja-JP" sz="950" u="none" cap="none" strike="noStrike">
                          <a:solidFill>
                            <a:srgbClr val="1E4FA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徴税対策課様にてご対応をお願いしたい事項</a:t>
                      </a:r>
                      <a:endParaRPr b="1" sz="95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</a:tr>
              <a:tr h="432150">
                <a:tc row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ja-JP" sz="950" u="none" cap="none" strike="noStrike">
                          <a:solidFill>
                            <a:schemeClr val="dk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検証フェーズ</a:t>
                      </a:r>
                      <a:endParaRPr b="1" sz="950" u="none" cap="none" strike="noStrike">
                        <a:solidFill>
                          <a:schemeClr val="dk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50"/>
                        <a:buFont typeface="Noto Sans JP"/>
                        <a:buNone/>
                      </a:pPr>
                      <a:r>
                        <a:rPr b="1" lang="ja-JP" sz="950" u="none" cap="none" strike="noStrike">
                          <a:solidFill>
                            <a:schemeClr val="dk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①着手前</a:t>
                      </a:r>
                      <a:endParaRPr sz="950" u="none" cap="none" strike="noStrike">
                        <a:solidFill>
                          <a:schemeClr val="dk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750"/>
                        <a:buFont typeface="Noto Sans JP"/>
                        <a:buNone/>
                      </a:pPr>
                      <a:r>
                        <a:rPr lang="ja-JP" sz="950" u="none" cap="none" strike="noStrike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事前協議へのご参加／PoC進行の可否のご判断</a:t>
                      </a:r>
                      <a:endParaRPr sz="95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</a:tr>
              <a:tr h="4321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50"/>
                        <a:buFont typeface="Noto Sans JP"/>
                        <a:buNone/>
                      </a:pPr>
                      <a:r>
                        <a:rPr b="1" lang="ja-JP" sz="950" u="none" cap="none" strike="noStrike">
                          <a:solidFill>
                            <a:schemeClr val="dk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②要件定義</a:t>
                      </a:r>
                      <a:endParaRPr sz="950" u="none" cap="none" strike="noStrike">
                        <a:solidFill>
                          <a:schemeClr val="dk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ja-JP" sz="950" u="none" cap="none" strike="noStrike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中間報告を1ヶ月に1回程度させていただくことを想定しております</a:t>
                      </a:r>
                      <a:endParaRPr sz="950" u="none" cap="none" strike="noStrike">
                        <a:solidFill>
                          <a:srgbClr val="333333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</a:tr>
              <a:tr h="4321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50"/>
                        <a:buFont typeface="Noto Sans JP"/>
                        <a:buNone/>
                      </a:pPr>
                      <a:r>
                        <a:rPr b="1" lang="ja-JP" sz="950" u="none" cap="none" strike="noStrike">
                          <a:solidFill>
                            <a:schemeClr val="dk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③設計</a:t>
                      </a:r>
                      <a:endParaRPr sz="950" u="none" cap="none" strike="noStrike">
                        <a:solidFill>
                          <a:schemeClr val="dk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 vMerge="1"/>
              </a:tr>
              <a:tr h="4321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50"/>
                        <a:buFont typeface="Noto Sans JP"/>
                        <a:buNone/>
                      </a:pPr>
                      <a:r>
                        <a:rPr b="1" lang="ja-JP" sz="950" u="none" cap="none" strike="noStrike">
                          <a:solidFill>
                            <a:schemeClr val="dk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④開発</a:t>
                      </a:r>
                      <a:endParaRPr sz="950" u="none" cap="none" strike="noStrike">
                        <a:solidFill>
                          <a:schemeClr val="dk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 vMerge="1"/>
              </a:tr>
              <a:tr h="4321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50"/>
                        <a:buFont typeface="Noto Sans JP"/>
                        <a:buNone/>
                      </a:pPr>
                      <a:r>
                        <a:rPr b="1" lang="ja-JP" sz="950" u="none" cap="none" strike="noStrike">
                          <a:solidFill>
                            <a:schemeClr val="dk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⑤検証</a:t>
                      </a:r>
                      <a:endParaRPr sz="950" u="none" cap="none" strike="noStrike">
                        <a:solidFill>
                          <a:schemeClr val="dk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750"/>
                        <a:buFont typeface="Noto Sans JP"/>
                        <a:buNone/>
                      </a:pPr>
                      <a:r>
                        <a:rPr lang="ja-JP" sz="950" u="none" cap="none" strike="noStrike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テスト用の払込票・トークンを利用した実際の使用感をご確認いただけます</a:t>
                      </a:r>
                      <a:endParaRPr sz="95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</a:tr>
              <a:tr h="4321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50"/>
                        <a:buFont typeface="Noto Sans JP"/>
                        <a:buNone/>
                      </a:pPr>
                      <a:r>
                        <a:rPr b="1" lang="ja-JP" sz="950" u="none" cap="none" strike="noStrike">
                          <a:solidFill>
                            <a:schemeClr val="dk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実証実施の判断</a:t>
                      </a:r>
                      <a:endParaRPr sz="950" u="none" cap="none" strike="noStrike">
                        <a:solidFill>
                          <a:schemeClr val="dk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750"/>
                        <a:buFont typeface="Noto Sans JP"/>
                        <a:buNone/>
                      </a:pPr>
                      <a:r>
                        <a:rPr lang="ja-JP" sz="950" u="none" cap="none" strike="noStrike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本部コードの追加と、実証へ進むかのご判断をいただけますと幸いです</a:t>
                      </a:r>
                      <a:endParaRPr sz="95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</a:tr>
              <a:tr h="43215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ja-JP" sz="950" u="none" cap="none" strike="noStrike">
                          <a:solidFill>
                            <a:schemeClr val="dk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実証フェーズ</a:t>
                      </a:r>
                      <a:endParaRPr b="1" sz="950" u="none" cap="none" strike="noStrike">
                        <a:solidFill>
                          <a:schemeClr val="dk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5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50"/>
                        <a:buFont typeface="Noto Sans JP"/>
                        <a:buNone/>
                      </a:pPr>
                      <a:r>
                        <a:rPr b="1" lang="ja-JP" sz="950" u="none" cap="none" strike="noStrike">
                          <a:solidFill>
                            <a:schemeClr val="dk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①本部コードの追加と追加後の確認</a:t>
                      </a:r>
                      <a:endParaRPr sz="950" u="none" cap="none" strike="noStrike">
                        <a:solidFill>
                          <a:schemeClr val="dk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5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750"/>
                        <a:buFont typeface="Noto Sans JP"/>
                        <a:buNone/>
                      </a:pPr>
                      <a:r>
                        <a:rPr lang="ja-JP" sz="950" u="none" cap="none" strike="noStrike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本部コードの追加（税務情報システム・指定金融機関システム）／追加後に従来どおりの業務が回ることの確認を想定しております</a:t>
                      </a:r>
                      <a:endParaRPr sz="95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</a:tr>
              <a:tr h="4321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50"/>
                        <a:buFont typeface="Noto Sans JP"/>
                        <a:buNone/>
                      </a:pPr>
                      <a:r>
                        <a:rPr b="1" lang="ja-JP" sz="950" u="none" cap="none" strike="noStrike">
                          <a:solidFill>
                            <a:schemeClr val="dk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②実証</a:t>
                      </a:r>
                      <a:endParaRPr sz="950" u="none" cap="none" strike="noStrike">
                        <a:solidFill>
                          <a:schemeClr val="dk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5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750"/>
                        <a:buFont typeface="Noto Sans JP"/>
                        <a:buNone/>
                      </a:pPr>
                      <a:r>
                        <a:rPr lang="ja-JP" sz="950" u="none" cap="none" strike="noStrike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実際に自動車税を納税する方（関係者の中）にご協力をいただき、本番の払込票・本番のJPYSCを利用し、入金・消込結果の確認まで一巡を実証します</a:t>
                      </a:r>
                      <a:endParaRPr sz="95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</a:tr>
              <a:tr h="4321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50"/>
                        <a:buFont typeface="Noto Sans JP"/>
                        <a:buNone/>
                      </a:pPr>
                      <a:r>
                        <a:rPr b="1" lang="ja-JP" sz="950" u="none" cap="none" strike="noStrike">
                          <a:solidFill>
                            <a:schemeClr val="dk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③評価</a:t>
                      </a:r>
                      <a:endParaRPr sz="950" u="none" cap="none" strike="noStrike">
                        <a:solidFill>
                          <a:schemeClr val="dk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5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750"/>
                        <a:buFont typeface="Noto Sans JP"/>
                        <a:buNone/>
                      </a:pPr>
                      <a:r>
                        <a:rPr lang="ja-JP" sz="950" u="none" cap="none" strike="noStrike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評価報告のご確認／振り返りとStep2に向けての協議を行わせていただきます</a:t>
                      </a:r>
                      <a:endParaRPr sz="95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h75c6641a97eb45fb_2_111"/>
          <p:cNvSpPr txBox="1"/>
          <p:nvPr>
            <p:ph type="title"/>
          </p:nvPr>
        </p:nvSpPr>
        <p:spPr>
          <a:xfrm>
            <a:off x="838200" y="254517"/>
            <a:ext cx="105156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2652"/>
              </a:buClr>
              <a:buSzPts val="2000"/>
              <a:buFont typeface="Meiryo"/>
              <a:buNone/>
            </a:pPr>
            <a:r>
              <a:rPr b="1" lang="ja-JP" sz="2000"/>
              <a:t>検証フェーズのスケジュール</a:t>
            </a:r>
            <a:endParaRPr b="1" sz="2000"/>
          </a:p>
        </p:txBody>
      </p:sp>
      <p:sp>
        <p:nvSpPr>
          <p:cNvPr id="180" name="Google Shape;180;h75c6641a97eb45fb_2_11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© DSK.All Rights Reserved.</a:t>
            </a:r>
            <a:endParaRPr/>
          </a:p>
        </p:txBody>
      </p:sp>
      <p:sp>
        <p:nvSpPr>
          <p:cNvPr id="181" name="Google Shape;181;h75c6641a97eb45fb_2_11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182" name="Google Shape;182;h75c6641a97eb45fb_2_111"/>
          <p:cNvSpPr txBox="1"/>
          <p:nvPr/>
        </p:nvSpPr>
        <p:spPr>
          <a:xfrm>
            <a:off x="8497400" y="6338800"/>
            <a:ext cx="116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-JP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h75c6641a97eb45fb_2_11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ja-JP"/>
              <a:t>2026/9/28</a:t>
            </a:r>
            <a:endParaRPr/>
          </a:p>
        </p:txBody>
      </p:sp>
      <p:sp>
        <p:nvSpPr>
          <p:cNvPr id="184" name="Google Shape;184;h75c6641a97eb45fb_2_111"/>
          <p:cNvSpPr/>
          <p:nvPr/>
        </p:nvSpPr>
        <p:spPr>
          <a:xfrm>
            <a:off x="283650" y="963313"/>
            <a:ext cx="10976400" cy="2925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h75c6641a97eb45fb_2_111"/>
          <p:cNvSpPr/>
          <p:nvPr/>
        </p:nvSpPr>
        <p:spPr>
          <a:xfrm>
            <a:off x="283651" y="963307"/>
            <a:ext cx="46800" cy="292500"/>
          </a:xfrm>
          <a:prstGeom prst="rect">
            <a:avLst/>
          </a:prstGeom>
          <a:solidFill>
            <a:srgbClr val="1E4F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h75c6641a97eb45fb_2_111"/>
          <p:cNvSpPr txBox="1"/>
          <p:nvPr/>
        </p:nvSpPr>
        <p:spPr>
          <a:xfrm>
            <a:off x="442271" y="963307"/>
            <a:ext cx="8306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22233"/>
              </a:buClr>
              <a:buSzPts val="939"/>
              <a:buFont typeface="Noto Sans JP"/>
              <a:buNone/>
            </a:pPr>
            <a:r>
              <a:rPr b="1" i="0" lang="ja-JP" sz="940" u="none" cap="none" strike="noStrike">
                <a:solidFill>
                  <a:srgbClr val="222233"/>
                </a:solidFill>
                <a:latin typeface="Noto Sans JP"/>
                <a:ea typeface="Noto Sans JP"/>
                <a:cs typeface="Noto Sans JP"/>
                <a:sym typeface="Noto Sans JP"/>
              </a:rPr>
              <a:t>着手から10ヶ月で⑤検証（結合試験）まで終え、実証へ進むかをご判断いただきたい</a:t>
            </a:r>
            <a:endParaRPr b="0" i="0" sz="940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graphicFrame>
        <p:nvGraphicFramePr>
          <p:cNvPr id="187" name="Google Shape;187;h75c6641a97eb45fb_2_111"/>
          <p:cNvGraphicFramePr/>
          <p:nvPr/>
        </p:nvGraphicFramePr>
        <p:xfrm>
          <a:off x="283651" y="15076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{8FB3DCA4-757D-4564-B0D9-2AFA57E06221}</a:tableStyleId>
              </a:tblPr>
              <a:tblGrid>
                <a:gridCol w="981975"/>
                <a:gridCol w="1806800"/>
                <a:gridCol w="629825"/>
                <a:gridCol w="629825"/>
                <a:gridCol w="629825"/>
                <a:gridCol w="629825"/>
                <a:gridCol w="629825"/>
                <a:gridCol w="629825"/>
                <a:gridCol w="629825"/>
                <a:gridCol w="629825"/>
                <a:gridCol w="629825"/>
                <a:gridCol w="629825"/>
                <a:gridCol w="629825"/>
                <a:gridCol w="629825"/>
                <a:gridCol w="629825"/>
              </a:tblGrid>
              <a:tr h="423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23875" marB="2387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10"/>
                        <a:buFont typeface="Noto Sans JP"/>
                        <a:buNone/>
                      </a:pPr>
                      <a:r>
                        <a:rPr b="1" lang="ja-JP" sz="710" u="none" cap="none" strike="noStrike">
                          <a:solidFill>
                            <a:schemeClr val="dk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ステップ</a:t>
                      </a:r>
                      <a:endParaRPr sz="710" u="none" cap="none" strike="noStrike">
                        <a:solidFill>
                          <a:schemeClr val="dk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23875" marB="2387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10"/>
                        <a:buFont typeface="Noto Sans JP"/>
                        <a:buNone/>
                      </a:pPr>
                      <a:r>
                        <a:rPr b="1" lang="ja-JP" sz="710" u="none" cap="none" strike="noStrike">
                          <a:solidFill>
                            <a:srgbClr val="1E4FA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第1月</a:t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18300" marB="1830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10"/>
                        <a:buFont typeface="Noto Sans JP"/>
                        <a:buNone/>
                      </a:pPr>
                      <a:r>
                        <a:rPr b="1" lang="ja-JP" sz="710" u="none" cap="none" strike="noStrike">
                          <a:solidFill>
                            <a:srgbClr val="1E4FA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第2月</a:t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18300" marB="1830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10"/>
                        <a:buFont typeface="Noto Sans JP"/>
                        <a:buNone/>
                      </a:pPr>
                      <a:r>
                        <a:rPr b="1" lang="ja-JP" sz="710" u="none" cap="none" strike="noStrike">
                          <a:solidFill>
                            <a:srgbClr val="1E4FA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第3月</a:t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18300" marB="1830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10"/>
                        <a:buFont typeface="Noto Sans JP"/>
                        <a:buNone/>
                      </a:pPr>
                      <a:r>
                        <a:rPr b="1" lang="ja-JP" sz="710" u="none" cap="none" strike="noStrike">
                          <a:solidFill>
                            <a:srgbClr val="1E4FA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第4月</a:t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18300" marB="1830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10"/>
                        <a:buFont typeface="Noto Sans JP"/>
                        <a:buNone/>
                      </a:pPr>
                      <a:r>
                        <a:rPr b="1" lang="ja-JP" sz="710" u="none" cap="none" strike="noStrike">
                          <a:solidFill>
                            <a:srgbClr val="1E4FA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第5月</a:t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18300" marB="1830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10"/>
                        <a:buFont typeface="Noto Sans JP"/>
                        <a:buNone/>
                      </a:pPr>
                      <a:r>
                        <a:rPr b="1" lang="ja-JP" sz="710" u="none" cap="none" strike="noStrike">
                          <a:solidFill>
                            <a:srgbClr val="1E4FA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第6月</a:t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18300" marB="1830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10"/>
                        <a:buFont typeface="Noto Sans JP"/>
                        <a:buNone/>
                      </a:pPr>
                      <a:r>
                        <a:rPr b="1" lang="ja-JP" sz="710" u="none" cap="none" strike="noStrike">
                          <a:solidFill>
                            <a:srgbClr val="1E4FA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第7月</a:t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18300" marB="1830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10"/>
                        <a:buFont typeface="Noto Sans JP"/>
                        <a:buNone/>
                      </a:pPr>
                      <a:r>
                        <a:rPr b="1" lang="ja-JP" sz="710" u="none" cap="none" strike="noStrike">
                          <a:solidFill>
                            <a:srgbClr val="1E4FA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第8月</a:t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18300" marB="1830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10"/>
                        <a:buFont typeface="Noto Sans JP"/>
                        <a:buNone/>
                      </a:pPr>
                      <a:r>
                        <a:rPr b="1" lang="ja-JP" sz="710" u="none" cap="none" strike="noStrike">
                          <a:solidFill>
                            <a:srgbClr val="1E4FA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第9月</a:t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18300" marB="1830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10"/>
                        <a:buFont typeface="Noto Sans JP"/>
                        <a:buNone/>
                      </a:pPr>
                      <a:r>
                        <a:rPr b="1" lang="ja-JP" sz="710" u="none" cap="none" strike="noStrike">
                          <a:solidFill>
                            <a:srgbClr val="1E4FA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第10月</a:t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18300" marB="1830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10"/>
                        <a:buFont typeface="Noto Sans JP"/>
                        <a:buNone/>
                      </a:pPr>
                      <a:r>
                        <a:rPr b="1" lang="ja-JP" sz="710" u="none" cap="none" strike="noStrike">
                          <a:solidFill>
                            <a:srgbClr val="1E4FA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判断後</a:t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10"/>
                        <a:buFont typeface="Noto Sans JP"/>
                        <a:buNone/>
                      </a:pPr>
                      <a:r>
                        <a:rPr b="1" lang="ja-JP" sz="710" u="none" cap="none" strike="noStrike">
                          <a:solidFill>
                            <a:srgbClr val="1E4FA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n月</a:t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18300" marB="1830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10"/>
                        <a:buFont typeface="Noto Sans JP"/>
                        <a:buNone/>
                      </a:pPr>
                      <a:r>
                        <a:rPr b="1" lang="ja-JP" sz="710" u="none" cap="none" strike="noStrike">
                          <a:solidFill>
                            <a:srgbClr val="1E4FA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判断後</a:t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10"/>
                        <a:buFont typeface="Noto Sans JP"/>
                        <a:buNone/>
                      </a:pPr>
                      <a:r>
                        <a:rPr b="1" lang="ja-JP" sz="710" u="none" cap="none" strike="noStrike">
                          <a:solidFill>
                            <a:srgbClr val="1E4FA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1月</a:t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18300" marB="1830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10"/>
                        <a:buFont typeface="Noto Sans JP"/>
                        <a:buNone/>
                      </a:pPr>
                      <a:r>
                        <a:rPr b="1" lang="ja-JP" sz="710" u="none" cap="none" strike="noStrike">
                          <a:solidFill>
                            <a:srgbClr val="1E4FA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判断後</a:t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  <a:p>
                      <a:pPr indent="0" lvl="0" marL="0" marR="0" rtl="0"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10"/>
                        <a:buFont typeface="Noto Sans JP"/>
                        <a:buNone/>
                      </a:pPr>
                      <a:r>
                        <a:rPr b="1" lang="ja-JP" sz="710" u="none" cap="none" strike="noStrike">
                          <a:solidFill>
                            <a:srgbClr val="1E4FA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2月</a:t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18300" marB="1830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</a:tr>
              <a:tr h="284925">
                <a:tc row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b="1" lang="ja-JP" sz="710" u="none" cap="none" strike="noStrike">
                          <a:solidFill>
                            <a:schemeClr val="dk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検証フェーズ</a:t>
                      </a:r>
                      <a:endParaRPr b="1" sz="710" u="none" cap="none" strike="noStrike">
                        <a:solidFill>
                          <a:schemeClr val="dk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23875" marB="2387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10"/>
                        <a:buFont typeface="Noto Sans JP"/>
                        <a:buNone/>
                      </a:pPr>
                      <a:r>
                        <a:rPr b="1" lang="ja-JP" sz="710" u="none" cap="none" strike="noStrike">
                          <a:solidFill>
                            <a:schemeClr val="dk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①着手前</a:t>
                      </a:r>
                      <a:endParaRPr sz="710" u="none" cap="none" strike="noStrike">
                        <a:solidFill>
                          <a:schemeClr val="dk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23875" marB="2387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</a:tr>
              <a:tr h="2849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10"/>
                        <a:buFont typeface="Noto Sans JP"/>
                        <a:buNone/>
                      </a:pPr>
                      <a:r>
                        <a:rPr b="1" lang="ja-JP" sz="710" u="none" cap="none" strike="noStrike">
                          <a:solidFill>
                            <a:schemeClr val="dk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②要件定義</a:t>
                      </a:r>
                      <a:endParaRPr sz="710" u="none" cap="none" strike="noStrike">
                        <a:solidFill>
                          <a:schemeClr val="dk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23875" marB="2387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</a:tr>
              <a:tr h="2849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10"/>
                        <a:buFont typeface="Noto Sans JP"/>
                        <a:buNone/>
                      </a:pPr>
                      <a:r>
                        <a:rPr b="1" lang="ja-JP" sz="710" u="none" cap="none" strike="noStrike">
                          <a:solidFill>
                            <a:schemeClr val="dk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③設計</a:t>
                      </a:r>
                      <a:endParaRPr sz="710" u="none" cap="none" strike="noStrike">
                        <a:solidFill>
                          <a:schemeClr val="dk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23875" marB="2387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</a:tr>
              <a:tr h="2849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10"/>
                        <a:buFont typeface="Noto Sans JP"/>
                        <a:buNone/>
                      </a:pPr>
                      <a:r>
                        <a:rPr b="1" lang="ja-JP" sz="710" u="none" cap="none" strike="noStrike">
                          <a:solidFill>
                            <a:schemeClr val="dk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④開発</a:t>
                      </a:r>
                      <a:endParaRPr sz="710" u="none" cap="none" strike="noStrike">
                        <a:solidFill>
                          <a:schemeClr val="dk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23875" marB="2387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</a:tr>
              <a:tr h="2849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10"/>
                        <a:buFont typeface="Noto Sans JP"/>
                        <a:buNone/>
                      </a:pPr>
                      <a:r>
                        <a:rPr b="1" lang="ja-JP" sz="710" u="none" cap="none" strike="noStrike">
                          <a:solidFill>
                            <a:schemeClr val="dk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⑤検証（結合試験）</a:t>
                      </a:r>
                      <a:endParaRPr sz="710" u="none" cap="none" strike="noStrike">
                        <a:solidFill>
                          <a:schemeClr val="dk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23875" marB="2387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</a:tr>
              <a:tr h="2849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10"/>
                        <a:buFont typeface="Noto Sans JP"/>
                        <a:buNone/>
                      </a:pPr>
                      <a:r>
                        <a:rPr b="1" lang="ja-JP" sz="710" u="none" cap="none" strike="noStrike">
                          <a:solidFill>
                            <a:schemeClr val="dk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実証実施の判断</a:t>
                      </a:r>
                      <a:endParaRPr sz="710" u="none" cap="none" strike="noStrike">
                        <a:solidFill>
                          <a:schemeClr val="dk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23875" marB="2387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A6D1F"/>
                        </a:buClr>
                        <a:buSzPts val="710"/>
                        <a:buFont typeface="Noto Sans JP"/>
                        <a:buNone/>
                      </a:pPr>
                      <a:r>
                        <a:rPr b="1" lang="ja-JP" sz="710" u="none" cap="none" strike="noStrike">
                          <a:solidFill>
                            <a:srgbClr val="1E4FA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◆ご判断</a:t>
                      </a:r>
                      <a:endParaRPr sz="710" u="none" cap="none" strike="noStrike">
                        <a:solidFill>
                          <a:srgbClr val="1E4FA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</a:tr>
              <a:tr h="284925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b="1" lang="ja-JP" sz="710" u="none" cap="none" strike="noStrike">
                          <a:solidFill>
                            <a:schemeClr val="dk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実証フェーズ</a:t>
                      </a:r>
                      <a:endParaRPr b="1" sz="710" u="none" cap="none" strike="noStrike">
                        <a:solidFill>
                          <a:schemeClr val="dk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23875" marB="23875" marR="89575" marL="89575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5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10"/>
                        <a:buFont typeface="Noto Sans JP"/>
                        <a:buNone/>
                      </a:pPr>
                      <a:r>
                        <a:rPr b="1" lang="ja-JP" sz="710" u="none" cap="none" strike="noStrike">
                          <a:solidFill>
                            <a:schemeClr val="dk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⑥本部コードの追加と追加後の確認</a:t>
                      </a:r>
                      <a:endParaRPr sz="710" u="none" cap="none" strike="noStrike">
                        <a:solidFill>
                          <a:schemeClr val="dk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23875" marB="23875" marR="89575" marL="89575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5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</a:tr>
              <a:tr h="2849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10"/>
                        <a:buFont typeface="Noto Sans JP"/>
                        <a:buNone/>
                      </a:pPr>
                      <a:r>
                        <a:rPr b="1" lang="ja-JP" sz="710" u="none" cap="none" strike="noStrike">
                          <a:solidFill>
                            <a:schemeClr val="dk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⑦実証</a:t>
                      </a:r>
                      <a:endParaRPr sz="710" u="none" cap="none" strike="noStrike">
                        <a:solidFill>
                          <a:schemeClr val="dk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23875" marB="23875" marR="89575" marL="89575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5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</a:tr>
              <a:tr h="2849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10"/>
                        <a:buFont typeface="Noto Sans JP"/>
                        <a:buNone/>
                      </a:pPr>
                      <a:r>
                        <a:rPr b="1" lang="ja-JP" sz="710" u="none" cap="none" strike="noStrike">
                          <a:solidFill>
                            <a:schemeClr val="dk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⑧評価</a:t>
                      </a:r>
                      <a:endParaRPr sz="710" u="none" cap="none" strike="noStrike">
                        <a:solidFill>
                          <a:schemeClr val="dk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23875" marB="23875" marR="89575" marL="89575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5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CF8"/>
                    </a:solidFill>
                  </a:tcPr>
                </a:tc>
              </a:tr>
              <a:tr h="284925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b="1" lang="ja-JP" sz="710" u="none" cap="none" strike="noStrike">
                          <a:solidFill>
                            <a:schemeClr val="dk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全体</a:t>
                      </a:r>
                      <a:endParaRPr b="1" sz="710" u="none" cap="none" strike="noStrike">
                        <a:solidFill>
                          <a:schemeClr val="dk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Arial"/>
                        <a:buNone/>
                      </a:pPr>
                      <a:r>
                        <a:rPr b="1" lang="ja-JP" sz="710" u="none" cap="none" strike="noStrike">
                          <a:solidFill>
                            <a:schemeClr val="dk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マイルストーン</a:t>
                      </a:r>
                      <a:endParaRPr b="1" sz="710" u="none" cap="none" strike="noStrike">
                        <a:solidFill>
                          <a:schemeClr val="dk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23875" marB="2387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10"/>
                        <a:buFont typeface="Noto Sans JP"/>
                        <a:buNone/>
                      </a:pPr>
                      <a:r>
                        <a:rPr b="1" lang="ja-JP" sz="710" u="none" cap="none" strike="noStrike">
                          <a:solidFill>
                            <a:schemeClr val="dk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スキーム確定</a:t>
                      </a:r>
                      <a:endParaRPr sz="710" u="none" cap="none" strike="noStrike">
                        <a:solidFill>
                          <a:schemeClr val="dk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23875" marB="2387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10"/>
                        <a:buFont typeface="Noto Sans JP"/>
                        <a:buNone/>
                      </a:pPr>
                      <a:r>
                        <a:rPr b="1" lang="ja-JP" sz="710" u="none" cap="none" strike="noStrike">
                          <a:solidFill>
                            <a:srgbClr val="1E4FA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◆確定</a:t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EBA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</a:tr>
              <a:tr h="2849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10"/>
                        <a:buFont typeface="Noto Sans JP"/>
                        <a:buNone/>
                      </a:pPr>
                      <a:r>
                        <a:rPr b="1" lang="ja-JP" sz="710" u="none" cap="none" strike="noStrike">
                          <a:solidFill>
                            <a:schemeClr val="dk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金融庁への事前相談</a:t>
                      </a:r>
                      <a:endParaRPr sz="710" u="none" cap="none" strike="noStrike">
                        <a:solidFill>
                          <a:schemeClr val="dk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23875" marB="2387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10"/>
                        <a:buFont typeface="Noto Sans JP"/>
                        <a:buNone/>
                      </a:pPr>
                      <a:r>
                        <a:rPr b="1" lang="ja-JP" sz="710" u="none" cap="none" strike="noStrike">
                          <a:solidFill>
                            <a:srgbClr val="1E4FA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◆相談実施</a:t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</a:tr>
              <a:tr h="2849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10"/>
                        <a:buFont typeface="Noto Sans JP"/>
                        <a:buNone/>
                      </a:pPr>
                      <a:r>
                        <a:rPr b="1" lang="ja-JP" sz="710" u="none" cap="none" strike="noStrike">
                          <a:solidFill>
                            <a:schemeClr val="dk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JPYSC出庫の目途</a:t>
                      </a:r>
                      <a:endParaRPr sz="710" u="none" cap="none" strike="noStrike">
                        <a:solidFill>
                          <a:schemeClr val="dk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23875" marB="2387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10"/>
                        <a:buFont typeface="Noto Sans JP"/>
                        <a:buNone/>
                      </a:pPr>
                      <a:r>
                        <a:rPr b="1" lang="ja-JP" sz="710" u="none" cap="none" strike="noStrike">
                          <a:solidFill>
                            <a:srgbClr val="1E4FA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◆出庫目途</a:t>
                      </a:r>
                      <a:endParaRPr b="1" sz="710" u="none" cap="none" strike="noStrike">
                        <a:solidFill>
                          <a:srgbClr val="1E4FA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10"/>
                        <a:buFont typeface="Noto Sans JP"/>
                        <a:buNone/>
                      </a:pPr>
                      <a:r>
                        <a:rPr b="1" lang="ja-JP" sz="710" u="none" cap="none" strike="noStrike">
                          <a:solidFill>
                            <a:srgbClr val="1E4FA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確認</a:t>
                      </a:r>
                      <a:endParaRPr b="1" sz="710" u="none" cap="none" strike="noStrike">
                        <a:solidFill>
                          <a:srgbClr val="1E4FA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10"/>
                        <a:buFont typeface="Noto Sans JP"/>
                        <a:buNone/>
                      </a:pPr>
                      <a:r>
                        <a:t/>
                      </a:r>
                      <a:endParaRPr sz="71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  <p:sp>
        <p:nvSpPr>
          <p:cNvPr id="188" name="Google Shape;188;h75c6641a97eb45fb_2_111"/>
          <p:cNvSpPr/>
          <p:nvPr/>
        </p:nvSpPr>
        <p:spPr>
          <a:xfrm>
            <a:off x="3072429" y="2039600"/>
            <a:ext cx="1259700" cy="104400"/>
          </a:xfrm>
          <a:prstGeom prst="rect">
            <a:avLst/>
          </a:prstGeom>
          <a:solidFill>
            <a:srgbClr val="1F56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h75c6641a97eb45fb_2_111"/>
          <p:cNvSpPr/>
          <p:nvPr/>
        </p:nvSpPr>
        <p:spPr>
          <a:xfrm>
            <a:off x="4332119" y="2325200"/>
            <a:ext cx="1259700" cy="104400"/>
          </a:xfrm>
          <a:prstGeom prst="rect">
            <a:avLst/>
          </a:prstGeom>
          <a:solidFill>
            <a:srgbClr val="1F56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h75c6641a97eb45fb_2_111"/>
          <p:cNvSpPr/>
          <p:nvPr/>
        </p:nvSpPr>
        <p:spPr>
          <a:xfrm>
            <a:off x="5591821" y="2599900"/>
            <a:ext cx="1259700" cy="104400"/>
          </a:xfrm>
          <a:prstGeom prst="rect">
            <a:avLst/>
          </a:prstGeom>
          <a:solidFill>
            <a:srgbClr val="1F56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h75c6641a97eb45fb_2_111"/>
          <p:cNvSpPr/>
          <p:nvPr/>
        </p:nvSpPr>
        <p:spPr>
          <a:xfrm>
            <a:off x="6221550" y="2876550"/>
            <a:ext cx="2526900" cy="104400"/>
          </a:xfrm>
          <a:prstGeom prst="rect">
            <a:avLst/>
          </a:prstGeom>
          <a:solidFill>
            <a:srgbClr val="1F56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h75c6641a97eb45fb_2_111"/>
          <p:cNvSpPr/>
          <p:nvPr/>
        </p:nvSpPr>
        <p:spPr>
          <a:xfrm>
            <a:off x="8111030" y="3169150"/>
            <a:ext cx="629700" cy="104400"/>
          </a:xfrm>
          <a:prstGeom prst="rect">
            <a:avLst/>
          </a:prstGeom>
          <a:solidFill>
            <a:srgbClr val="1F56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h75c6641a97eb45fb_2_111"/>
          <p:cNvSpPr/>
          <p:nvPr/>
        </p:nvSpPr>
        <p:spPr>
          <a:xfrm>
            <a:off x="9370675" y="3746700"/>
            <a:ext cx="629700" cy="104400"/>
          </a:xfrm>
          <a:prstGeom prst="rect">
            <a:avLst/>
          </a:prstGeom>
          <a:solidFill>
            <a:srgbClr val="C8A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h75c6641a97eb45fb_2_111"/>
          <p:cNvSpPr/>
          <p:nvPr/>
        </p:nvSpPr>
        <p:spPr>
          <a:xfrm>
            <a:off x="10000500" y="4024633"/>
            <a:ext cx="629700" cy="104400"/>
          </a:xfrm>
          <a:prstGeom prst="rect">
            <a:avLst/>
          </a:prstGeom>
          <a:solidFill>
            <a:srgbClr val="C8A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h75c6641a97eb45fb_2_111"/>
          <p:cNvSpPr/>
          <p:nvPr/>
        </p:nvSpPr>
        <p:spPr>
          <a:xfrm>
            <a:off x="10630329" y="4307425"/>
            <a:ext cx="629700" cy="104400"/>
          </a:xfrm>
          <a:prstGeom prst="rect">
            <a:avLst/>
          </a:prstGeom>
          <a:solidFill>
            <a:srgbClr val="C8A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h75c6641a97eb45fb_2_111"/>
          <p:cNvSpPr/>
          <p:nvPr/>
        </p:nvSpPr>
        <p:spPr>
          <a:xfrm>
            <a:off x="9661400" y="4856838"/>
            <a:ext cx="3465000" cy="10545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-JP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金融庁へのご相談の手段・ルートについてご相談をさせていただきたい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-JP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直接事前相談／ノーアクションレター等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h75c6641a97eb45fb_2_111"/>
          <p:cNvSpPr txBox="1"/>
          <p:nvPr/>
        </p:nvSpPr>
        <p:spPr>
          <a:xfrm>
            <a:off x="326300" y="5526175"/>
            <a:ext cx="10390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77777"/>
              </a:buClr>
              <a:buSzPts val="889"/>
              <a:buFont typeface="Noto Sans JP"/>
              <a:buNone/>
            </a:pPr>
            <a:r>
              <a:rPr b="0" i="0" lang="ja-JP" sz="890" u="none" cap="none" strike="noStrike">
                <a:solidFill>
                  <a:srgbClr val="777777"/>
                </a:solidFill>
                <a:latin typeface="Noto Sans JP"/>
                <a:ea typeface="Noto Sans JP"/>
                <a:cs typeface="Noto Sans JP"/>
                <a:sym typeface="Noto Sans JP"/>
              </a:rPr>
              <a:t>現段階での想定スケジュールとなります。</a:t>
            </a:r>
            <a:endParaRPr b="0" i="0" sz="890" u="none" cap="none" strike="noStrike">
              <a:solidFill>
                <a:srgbClr val="777777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h75c6641a97eb45fb_2_120"/>
          <p:cNvSpPr txBox="1"/>
          <p:nvPr>
            <p:ph type="title"/>
          </p:nvPr>
        </p:nvSpPr>
        <p:spPr>
          <a:xfrm>
            <a:off x="838200" y="254517"/>
            <a:ext cx="105156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2652"/>
              </a:buClr>
              <a:buSzPts val="2000"/>
              <a:buFont typeface="Meiryo"/>
              <a:buNone/>
            </a:pPr>
            <a:r>
              <a:rPr b="1" lang="ja-JP" sz="2000"/>
              <a:t>検証フェーズの会議</a:t>
            </a:r>
            <a:endParaRPr b="1" sz="2000"/>
          </a:p>
        </p:txBody>
      </p:sp>
      <p:sp>
        <p:nvSpPr>
          <p:cNvPr id="204" name="Google Shape;204;h75c6641a97eb45fb_2_12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© DSK.All Rights Reserved.</a:t>
            </a:r>
            <a:endParaRPr/>
          </a:p>
        </p:txBody>
      </p:sp>
      <p:sp>
        <p:nvSpPr>
          <p:cNvPr id="205" name="Google Shape;205;h75c6641a97eb45fb_2_1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206" name="Google Shape;206;h75c6641a97eb45fb_2_120"/>
          <p:cNvSpPr txBox="1"/>
          <p:nvPr/>
        </p:nvSpPr>
        <p:spPr>
          <a:xfrm>
            <a:off x="8497400" y="6338800"/>
            <a:ext cx="116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-JP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h75c6641a97eb45fb_2_12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ja-JP"/>
              <a:t>2026/9/28</a:t>
            </a:r>
            <a:endParaRPr/>
          </a:p>
        </p:txBody>
      </p:sp>
      <p:graphicFrame>
        <p:nvGraphicFramePr>
          <p:cNvPr id="208" name="Google Shape;208;h75c6641a97eb45fb_2_120"/>
          <p:cNvGraphicFramePr/>
          <p:nvPr/>
        </p:nvGraphicFramePr>
        <p:xfrm>
          <a:off x="443276" y="10362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{8FB3DCA4-757D-4564-B0D9-2AFA57E06221}</a:tableStyleId>
              </a:tblPr>
              <a:tblGrid>
                <a:gridCol w="1275025"/>
                <a:gridCol w="1275025"/>
                <a:gridCol w="5405375"/>
                <a:gridCol w="909125"/>
                <a:gridCol w="1013050"/>
                <a:gridCol w="1200025"/>
              </a:tblGrid>
              <a:tr h="64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t/>
                      </a:r>
                      <a:endParaRPr b="1" sz="950" u="none" cap="none" strike="noStrike">
                        <a:solidFill>
                          <a:schemeClr val="dk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50"/>
                        <a:buFont typeface="Noto Sans JP"/>
                        <a:buNone/>
                      </a:pPr>
                      <a:r>
                        <a:rPr b="1" lang="ja-JP" sz="950" u="none" cap="none" strike="noStrike">
                          <a:solidFill>
                            <a:schemeClr val="dk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ステップ</a:t>
                      </a:r>
                      <a:endParaRPr sz="950" u="none" cap="none" strike="noStrike">
                        <a:solidFill>
                          <a:schemeClr val="dk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50"/>
                        <a:buFont typeface="Noto Sans JP"/>
                        <a:buNone/>
                      </a:pPr>
                      <a:r>
                        <a:rPr b="1" lang="ja-JP" sz="950" u="none" cap="none" strike="noStrike">
                          <a:solidFill>
                            <a:srgbClr val="1E4FA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会議</a:t>
                      </a:r>
                      <a:endParaRPr sz="95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50"/>
                        <a:buFont typeface="Noto Sans JP"/>
                        <a:buNone/>
                      </a:pPr>
                      <a:r>
                        <a:rPr b="1" lang="ja-JP" sz="950" u="none" cap="none" strike="noStrike">
                          <a:solidFill>
                            <a:srgbClr val="1E4FA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時期</a:t>
                      </a:r>
                      <a:endParaRPr sz="95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50"/>
                        <a:buFont typeface="Noto Sans JP"/>
                        <a:buNone/>
                      </a:pPr>
                      <a:r>
                        <a:rPr b="1" lang="ja-JP" sz="950" u="none" cap="none" strike="noStrike">
                          <a:solidFill>
                            <a:srgbClr val="1E4FA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回数</a:t>
                      </a:r>
                      <a:endParaRPr sz="95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50"/>
                        <a:buFont typeface="Noto Sans JP"/>
                        <a:buNone/>
                      </a:pPr>
                      <a:r>
                        <a:rPr b="1" lang="ja-JP" sz="950" u="none" cap="none" strike="noStrike">
                          <a:solidFill>
                            <a:srgbClr val="1E4FA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1回あたり</a:t>
                      </a:r>
                      <a:endParaRPr b="1" sz="950" u="none" cap="none" strike="noStrike">
                        <a:solidFill>
                          <a:srgbClr val="1E4FA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50"/>
                        <a:buFont typeface="Noto Sans JP"/>
                        <a:buNone/>
                      </a:pPr>
                      <a:r>
                        <a:rPr b="1" lang="ja-JP" sz="950" u="none" cap="none" strike="noStrike">
                          <a:solidFill>
                            <a:srgbClr val="1E4FA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会議時間</a:t>
                      </a:r>
                      <a:endParaRPr sz="95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</a:tr>
              <a:tr h="626875">
                <a:tc row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ja-JP" sz="950" u="none" cap="none" strike="noStrike">
                          <a:solidFill>
                            <a:schemeClr val="dk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検証フェーズ</a:t>
                      </a:r>
                      <a:endParaRPr b="1" sz="950" u="none" cap="none" strike="noStrike">
                        <a:solidFill>
                          <a:schemeClr val="dk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50"/>
                        <a:buFont typeface="Noto Sans JP"/>
                        <a:buNone/>
                      </a:pPr>
                      <a:r>
                        <a:rPr b="1" lang="ja-JP" sz="950" u="none" cap="none" strike="noStrike">
                          <a:solidFill>
                            <a:schemeClr val="dk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①着手前</a:t>
                      </a:r>
                      <a:endParaRPr sz="950" u="none" cap="none" strike="noStrike">
                        <a:solidFill>
                          <a:schemeClr val="dk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750"/>
                        <a:buFont typeface="Noto Sans JP"/>
                        <a:buNone/>
                      </a:pPr>
                      <a:r>
                        <a:rPr lang="ja-JP" sz="950" u="none" cap="none" strike="noStrike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事前協議にて、検証・実証を含めプロジェクト全体で何をどこまで、どのタイミングで行うのかを整理。</a:t>
                      </a:r>
                      <a:endParaRPr sz="950" u="none" cap="none" strike="noStrike">
                        <a:solidFill>
                          <a:srgbClr val="333333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750"/>
                        <a:buFont typeface="Noto Sans JP"/>
                        <a:buNone/>
                      </a:pPr>
                      <a:r>
                        <a:rPr lang="ja-JP" sz="950" u="none" cap="none" strike="noStrike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関係者での進行の合意、および金融庁への事前相談の実施まで行えればと考えております。</a:t>
                      </a:r>
                      <a:endParaRPr sz="95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750"/>
                        <a:buFont typeface="Noto Sans JP"/>
                        <a:buNone/>
                      </a:pPr>
                      <a:r>
                        <a:rPr lang="ja-JP" sz="950" u="none" cap="none" strike="noStrike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第1〜2月</a:t>
                      </a:r>
                      <a:endParaRPr sz="95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750"/>
                        <a:buFont typeface="Noto Sans JP"/>
                        <a:buNone/>
                      </a:pPr>
                      <a:r>
                        <a:rPr lang="ja-JP" sz="950" u="none" cap="none" strike="noStrike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4回（隔週）</a:t>
                      </a:r>
                      <a:endParaRPr sz="95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750"/>
                        <a:buFont typeface="Noto Sans JP"/>
                        <a:buNone/>
                      </a:pPr>
                      <a:r>
                        <a:rPr lang="ja-JP" sz="950" u="none" cap="none" strike="noStrike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1時間</a:t>
                      </a:r>
                      <a:endParaRPr sz="95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</a:tr>
              <a:tr h="6268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50"/>
                        <a:buFont typeface="Noto Sans JP"/>
                        <a:buNone/>
                      </a:pPr>
                      <a:r>
                        <a:rPr b="1" lang="ja-JP" sz="950" u="none" cap="none" strike="noStrike">
                          <a:solidFill>
                            <a:schemeClr val="dk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②要件定義</a:t>
                      </a:r>
                      <a:endParaRPr sz="950" u="none" cap="none" strike="noStrike">
                        <a:solidFill>
                          <a:schemeClr val="dk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ja-JP" sz="950" u="none" cap="none" strike="noStrike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弊社にて要件定義～開発まで進行をいたします。</a:t>
                      </a:r>
                      <a:endParaRPr sz="950" u="none" cap="none" strike="noStrike">
                        <a:solidFill>
                          <a:srgbClr val="333333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950" u="none" cap="none" strike="noStrike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中間報告を1ヶ月に1回程度させていただくことを想定しております。</a:t>
                      </a:r>
                      <a:endParaRPr sz="950" u="none" cap="none" strike="noStrike">
                        <a:solidFill>
                          <a:srgbClr val="333333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ja-JP" sz="950" u="none" cap="none" strike="noStrike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第3月～9月</a:t>
                      </a:r>
                      <a:endParaRPr sz="95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ja-JP" sz="950" u="none" cap="none" strike="noStrike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7回（毎月）</a:t>
                      </a:r>
                      <a:endParaRPr sz="95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ja-JP" sz="950" u="none" cap="none" strike="noStrike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0.5時間</a:t>
                      </a:r>
                      <a:endParaRPr sz="95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</a:tr>
              <a:tr h="6268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50"/>
                        <a:buFont typeface="Noto Sans JP"/>
                        <a:buNone/>
                      </a:pPr>
                      <a:r>
                        <a:rPr b="1" lang="ja-JP" sz="950" u="none" cap="none" strike="noStrike">
                          <a:solidFill>
                            <a:schemeClr val="dk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③設計／④開発</a:t>
                      </a:r>
                      <a:endParaRPr sz="950" u="none" cap="none" strike="noStrike">
                        <a:solidFill>
                          <a:schemeClr val="dk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 vMerge="1"/>
                <a:tc vMerge="1"/>
                <a:tc vMerge="1"/>
                <a:tc vMerge="1"/>
              </a:tr>
              <a:tr h="6268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50"/>
                        <a:buFont typeface="Noto Sans JP"/>
                        <a:buNone/>
                      </a:pPr>
                      <a:r>
                        <a:rPr b="1" lang="ja-JP" sz="950" u="none" cap="none" strike="noStrike">
                          <a:solidFill>
                            <a:schemeClr val="dk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⑤検証</a:t>
                      </a:r>
                      <a:endParaRPr sz="950" u="none" cap="none" strike="noStrike">
                        <a:solidFill>
                          <a:schemeClr val="dk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750"/>
                        <a:buFont typeface="Noto Sans JP"/>
                        <a:buNone/>
                      </a:pPr>
                      <a:r>
                        <a:rPr lang="ja-JP" sz="950" u="none" cap="none" strike="noStrike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検証の実施手順の説明</a:t>
                      </a:r>
                      <a:endParaRPr sz="95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750"/>
                        <a:buFont typeface="Noto Sans JP"/>
                        <a:buNone/>
                      </a:pPr>
                      <a:r>
                        <a:rPr lang="ja-JP" sz="950" u="none" cap="none" strike="noStrike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第9月</a:t>
                      </a:r>
                      <a:endParaRPr sz="95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750"/>
                        <a:buFont typeface="Noto Sans JP"/>
                        <a:buNone/>
                      </a:pPr>
                      <a:r>
                        <a:rPr lang="ja-JP" sz="950" u="none" cap="none" strike="noStrike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1回</a:t>
                      </a:r>
                      <a:endParaRPr sz="95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750"/>
                        <a:buFont typeface="Noto Sans JP"/>
                        <a:buNone/>
                      </a:pPr>
                      <a:r>
                        <a:rPr lang="ja-JP" sz="950" u="none" cap="none" strike="noStrike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1時間</a:t>
                      </a:r>
                      <a:endParaRPr sz="95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</a:tr>
              <a:tr h="6268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4FA1"/>
                        </a:buClr>
                        <a:buSzPts val="750"/>
                        <a:buFont typeface="Noto Sans JP"/>
                        <a:buNone/>
                      </a:pPr>
                      <a:r>
                        <a:rPr b="1" lang="ja-JP" sz="950" u="none" cap="none" strike="noStrike">
                          <a:solidFill>
                            <a:schemeClr val="dk1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実証実施の判断</a:t>
                      </a:r>
                      <a:endParaRPr sz="950" u="none" cap="none" strike="noStrike">
                        <a:solidFill>
                          <a:schemeClr val="dk1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750"/>
                        <a:buFont typeface="Noto Sans JP"/>
                        <a:buNone/>
                      </a:pPr>
                      <a:r>
                        <a:rPr lang="ja-JP" sz="950" u="none" cap="none" strike="noStrike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設計・開発・検証フェーズご報告</a:t>
                      </a:r>
                      <a:endParaRPr sz="95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750"/>
                        <a:buFont typeface="Noto Sans JP"/>
                        <a:buNone/>
                      </a:pPr>
                      <a:r>
                        <a:rPr lang="ja-JP" sz="950" u="none" cap="none" strike="noStrike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第10月</a:t>
                      </a:r>
                      <a:endParaRPr sz="95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750"/>
                        <a:buFont typeface="Noto Sans JP"/>
                        <a:buNone/>
                      </a:pPr>
                      <a:r>
                        <a:rPr lang="ja-JP" sz="950" u="none" cap="none" strike="noStrike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1回</a:t>
                      </a:r>
                      <a:endParaRPr sz="95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3333"/>
                        </a:buClr>
                        <a:buSzPts val="750"/>
                        <a:buFont typeface="Noto Sans JP"/>
                        <a:buNone/>
                      </a:pPr>
                      <a:r>
                        <a:rPr lang="ja-JP" sz="950" u="none" cap="none" strike="noStrike">
                          <a:solidFill>
                            <a:srgbClr val="33333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1時間</a:t>
                      </a:r>
                      <a:endParaRPr sz="95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</a:tr>
              <a:tr h="626875"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t/>
                      </a:r>
                      <a:endParaRPr sz="95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2F6"/>
                    </a:solidFill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750"/>
                        <a:buFont typeface="Noto Sans JP"/>
                        <a:buNone/>
                      </a:pPr>
                      <a:r>
                        <a:rPr b="1" lang="ja-JP" sz="950" u="none" cap="none" strike="noStrike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合計：</a:t>
                      </a:r>
                      <a:endParaRPr b="1" sz="950" u="none" cap="none" strike="noStrike">
                        <a:solidFill>
                          <a:srgbClr val="222222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750"/>
                        <a:buFont typeface="Noto Sans JP"/>
                        <a:buNone/>
                      </a:pPr>
                      <a:r>
                        <a:rPr b="1" lang="ja-JP" sz="950" u="none" cap="none" strike="noStrike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10ヶ月</a:t>
                      </a:r>
                      <a:endParaRPr sz="95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750"/>
                        <a:buFont typeface="Noto Sans JP"/>
                        <a:buNone/>
                      </a:pPr>
                      <a:r>
                        <a:rPr b="1" lang="ja-JP" sz="950" u="none" cap="none" strike="noStrike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合計：</a:t>
                      </a:r>
                      <a:endParaRPr b="1" sz="950" u="none" cap="none" strike="noStrike">
                        <a:solidFill>
                          <a:srgbClr val="222222"/>
                        </a:solidFill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750"/>
                        <a:buFont typeface="Noto Sans JP"/>
                        <a:buNone/>
                      </a:pPr>
                      <a:r>
                        <a:rPr b="1" lang="ja-JP" sz="950" u="none" cap="none" strike="noStrike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13回</a:t>
                      </a:r>
                      <a:endParaRPr sz="95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750"/>
                        <a:buFont typeface="Noto Sans JP"/>
                        <a:buNone/>
                      </a:pPr>
                      <a:r>
                        <a:rPr b="1" lang="ja-JP" sz="950" u="none" cap="none" strike="noStrike"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総会議時間：</a:t>
                      </a:r>
                      <a:endParaRPr b="1" sz="95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222"/>
                        </a:buClr>
                        <a:buSzPts val="750"/>
                        <a:buFont typeface="Noto Sans JP"/>
                        <a:buNone/>
                      </a:pPr>
                      <a:r>
                        <a:rPr b="1" lang="ja-JP" sz="950" u="none" cap="none" strike="noStrike"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9.5時間</a:t>
                      </a:r>
                      <a:endParaRPr b="1" sz="950" u="none" cap="none" strike="noStrike">
                        <a:latin typeface="Noto Sans JP"/>
                        <a:ea typeface="Noto Sans JP"/>
                        <a:cs typeface="Noto Sans JP"/>
                        <a:sym typeface="Noto Sans JP"/>
                      </a:endParaRPr>
                    </a:p>
                  </a:txBody>
                  <a:tcPr marT="37325" marB="37325" marR="89575" marL="89575" anchor="ctr">
                    <a:lnL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9DAF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h75c6641a97eb45fb_2_92"/>
          <p:cNvSpPr txBox="1"/>
          <p:nvPr>
            <p:ph type="title"/>
          </p:nvPr>
        </p:nvSpPr>
        <p:spPr>
          <a:xfrm>
            <a:off x="838200" y="254517"/>
            <a:ext cx="105156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2652"/>
              </a:buClr>
              <a:buSzPts val="2000"/>
              <a:buFont typeface="Meiryo"/>
              <a:buNone/>
            </a:pPr>
            <a:r>
              <a:rPr b="1" lang="ja-JP" sz="2000"/>
              <a:t>検証で確認すること</a:t>
            </a:r>
            <a:endParaRPr b="1" sz="2000"/>
          </a:p>
        </p:txBody>
      </p:sp>
      <p:sp>
        <p:nvSpPr>
          <p:cNvPr id="215" name="Google Shape;215;h75c6641a97eb45fb_2_9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© DSK.All Rights Reserved.</a:t>
            </a:r>
            <a:endParaRPr/>
          </a:p>
        </p:txBody>
      </p:sp>
      <p:sp>
        <p:nvSpPr>
          <p:cNvPr id="216" name="Google Shape;216;h75c6641a97eb45fb_2_9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217" name="Google Shape;217;h75c6641a97eb45fb_2_92"/>
          <p:cNvSpPr txBox="1"/>
          <p:nvPr/>
        </p:nvSpPr>
        <p:spPr>
          <a:xfrm>
            <a:off x="8497400" y="6338800"/>
            <a:ext cx="116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-JP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h75c6641a97eb45fb_2_9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ja-JP"/>
              <a:t>2026/9/28</a:t>
            </a:r>
            <a:endParaRPr/>
          </a:p>
        </p:txBody>
      </p:sp>
      <p:sp>
        <p:nvSpPr>
          <p:cNvPr id="219" name="Google Shape;219;h75c6641a97eb45fb_2_92"/>
          <p:cNvSpPr/>
          <p:nvPr/>
        </p:nvSpPr>
        <p:spPr>
          <a:xfrm>
            <a:off x="471150" y="940052"/>
            <a:ext cx="11173500" cy="5955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txBody>
          <a:bodyPr anchorCtr="0" anchor="ctr" bIns="119100" lIns="119100" spcFirstLastPara="1" rIns="119100" wrap="square" tIns="119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h75c6641a97eb45fb_2_92"/>
          <p:cNvSpPr/>
          <p:nvPr/>
        </p:nvSpPr>
        <p:spPr>
          <a:xfrm>
            <a:off x="471150" y="940052"/>
            <a:ext cx="60900" cy="595500"/>
          </a:xfrm>
          <a:prstGeom prst="rect">
            <a:avLst/>
          </a:prstGeom>
          <a:solidFill>
            <a:srgbClr val="1E4FA1"/>
          </a:solidFill>
          <a:ln>
            <a:noFill/>
          </a:ln>
        </p:spPr>
        <p:txBody>
          <a:bodyPr anchorCtr="0" anchor="ctr" bIns="119100" lIns="119100" spcFirstLastPara="1" rIns="119100" wrap="square" tIns="119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h75c6641a97eb45fb_2_92"/>
          <p:cNvSpPr txBox="1"/>
          <p:nvPr/>
        </p:nvSpPr>
        <p:spPr>
          <a:xfrm>
            <a:off x="677798" y="940052"/>
            <a:ext cx="10821000" cy="5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22233"/>
              </a:buClr>
              <a:buSzPts val="1223"/>
              <a:buFont typeface="Noto Sans JP"/>
              <a:buNone/>
            </a:pPr>
            <a:r>
              <a:rPr b="1" i="0" lang="ja-JP" sz="1225" u="none" cap="none" strike="noStrike">
                <a:solidFill>
                  <a:srgbClr val="222233"/>
                </a:solidFill>
                <a:latin typeface="Noto Sans JP"/>
                <a:ea typeface="Noto Sans JP"/>
                <a:cs typeface="Noto Sans JP"/>
                <a:sym typeface="Noto Sans JP"/>
              </a:rPr>
              <a:t>検証では以下の５つの手順について</a:t>
            </a:r>
            <a:endParaRPr b="0" i="0" sz="1225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22" name="Google Shape;222;h75c6641a97eb45fb_2_92"/>
          <p:cNvSpPr/>
          <p:nvPr/>
        </p:nvSpPr>
        <p:spPr>
          <a:xfrm>
            <a:off x="2348003" y="1678625"/>
            <a:ext cx="1713600" cy="774300"/>
          </a:xfrm>
          <a:prstGeom prst="rect">
            <a:avLst/>
          </a:prstGeom>
          <a:solidFill>
            <a:srgbClr val="FFFFFF"/>
          </a:solidFill>
          <a:ln cap="flat" cmpd="sng" w="12400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9100" lIns="119100" spcFirstLastPara="1" rIns="119100" wrap="square" tIns="119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h75c6641a97eb45fb_2_92"/>
          <p:cNvSpPr txBox="1"/>
          <p:nvPr/>
        </p:nvSpPr>
        <p:spPr>
          <a:xfrm>
            <a:off x="2418800" y="1678625"/>
            <a:ext cx="1572300" cy="7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4FA1"/>
              </a:buClr>
              <a:buSzPts val="886"/>
              <a:buFont typeface="Noto Sans JP"/>
              <a:buNone/>
            </a:pPr>
            <a:r>
              <a:rPr b="1" i="0" lang="ja-JP" sz="886" u="none" cap="none" strike="noStrike">
                <a:solidFill>
                  <a:srgbClr val="1E4FA1"/>
                </a:solidFill>
                <a:latin typeface="Noto Sans JP"/>
                <a:ea typeface="Noto Sans JP"/>
                <a:cs typeface="Noto Sans JP"/>
                <a:sym typeface="Noto Sans JP"/>
              </a:rPr>
              <a:t>②</a:t>
            </a:r>
            <a:r>
              <a:rPr b="1" i="0" lang="ja-JP" sz="1107" u="none" cap="none" strike="noStrike">
                <a:solidFill>
                  <a:srgbClr val="222222"/>
                </a:solidFill>
                <a:latin typeface="Noto Sans JP"/>
                <a:ea typeface="Noto Sans JP"/>
                <a:cs typeface="Noto Sans JP"/>
                <a:sym typeface="Noto Sans JP"/>
              </a:rPr>
              <a:t>払込票の読み取り</a:t>
            </a:r>
            <a:endParaRPr b="0" i="0" sz="1107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60"/>
              <a:buFont typeface="Noto Sans JP"/>
              <a:buNone/>
            </a:pPr>
            <a:r>
              <a:rPr b="0" i="0" lang="ja-JP" sz="860" u="none" cap="none" strike="noStrike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ミニアプリで読み取る</a:t>
            </a:r>
            <a:endParaRPr b="0" i="0" sz="1107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24" name="Google Shape;224;h75c6641a97eb45fb_2_92"/>
          <p:cNvSpPr/>
          <p:nvPr/>
        </p:nvSpPr>
        <p:spPr>
          <a:xfrm rot="5400000">
            <a:off x="4067864" y="2015346"/>
            <a:ext cx="170100" cy="100800"/>
          </a:xfrm>
          <a:prstGeom prst="triangle">
            <a:avLst>
              <a:gd fmla="val 50000" name="adj"/>
            </a:avLst>
          </a:prstGeom>
          <a:solidFill>
            <a:srgbClr val="3B5A8F"/>
          </a:solidFill>
          <a:ln>
            <a:noFill/>
          </a:ln>
        </p:spPr>
        <p:txBody>
          <a:bodyPr anchorCtr="0" anchor="ctr" bIns="119100" lIns="119100" spcFirstLastPara="1" rIns="119100" wrap="square" tIns="119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h75c6641a97eb45fb_2_92"/>
          <p:cNvSpPr/>
          <p:nvPr/>
        </p:nvSpPr>
        <p:spPr>
          <a:xfrm>
            <a:off x="4243770" y="1678625"/>
            <a:ext cx="1713600" cy="774300"/>
          </a:xfrm>
          <a:prstGeom prst="rect">
            <a:avLst/>
          </a:prstGeom>
          <a:solidFill>
            <a:srgbClr val="FFFFFF"/>
          </a:solidFill>
          <a:ln cap="flat" cmpd="sng" w="12400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9100" lIns="119100" spcFirstLastPara="1" rIns="119100" wrap="square" tIns="119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h75c6641a97eb45fb_2_92"/>
          <p:cNvSpPr txBox="1"/>
          <p:nvPr/>
        </p:nvSpPr>
        <p:spPr>
          <a:xfrm>
            <a:off x="4314568" y="1678625"/>
            <a:ext cx="1572300" cy="7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4FA1"/>
              </a:buClr>
              <a:buSzPts val="886"/>
              <a:buFont typeface="Noto Sans JP"/>
              <a:buNone/>
            </a:pPr>
            <a:r>
              <a:rPr b="1" i="0" lang="ja-JP" sz="886" u="none" cap="none" strike="noStrike">
                <a:solidFill>
                  <a:srgbClr val="1E4FA1"/>
                </a:solidFill>
                <a:latin typeface="Noto Sans JP"/>
                <a:ea typeface="Noto Sans JP"/>
                <a:cs typeface="Noto Sans JP"/>
                <a:sym typeface="Noto Sans JP"/>
              </a:rPr>
              <a:t>③</a:t>
            </a:r>
            <a:r>
              <a:rPr b="1" i="0" lang="ja-JP" sz="1107" u="none" cap="none" strike="noStrike">
                <a:solidFill>
                  <a:srgbClr val="222222"/>
                </a:solidFill>
                <a:latin typeface="Noto Sans JP"/>
                <a:ea typeface="Noto Sans JP"/>
                <a:cs typeface="Noto Sans JP"/>
                <a:sym typeface="Noto Sans JP"/>
              </a:rPr>
              <a:t>JPYSCで支払い</a:t>
            </a:r>
            <a:endParaRPr b="0" i="0" sz="1107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60"/>
              <a:buFont typeface="Noto Sans JP"/>
              <a:buNone/>
            </a:pPr>
            <a:r>
              <a:rPr b="0" i="0" lang="ja-JP" sz="860" u="none" cap="none" strike="noStrike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ミニアプリからJPYSCテストトークンを送金</a:t>
            </a:r>
            <a:endParaRPr b="0" i="0" sz="1107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27" name="Google Shape;227;h75c6641a97eb45fb_2_92"/>
          <p:cNvSpPr/>
          <p:nvPr/>
        </p:nvSpPr>
        <p:spPr>
          <a:xfrm rot="5400000">
            <a:off x="5963632" y="2015346"/>
            <a:ext cx="170100" cy="100800"/>
          </a:xfrm>
          <a:prstGeom prst="triangle">
            <a:avLst>
              <a:gd fmla="val 50000" name="adj"/>
            </a:avLst>
          </a:prstGeom>
          <a:solidFill>
            <a:srgbClr val="3B5A8F"/>
          </a:solidFill>
          <a:ln>
            <a:noFill/>
          </a:ln>
        </p:spPr>
        <p:txBody>
          <a:bodyPr anchorCtr="0" anchor="ctr" bIns="119100" lIns="119100" spcFirstLastPara="1" rIns="119100" wrap="square" tIns="119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h75c6641a97eb45fb_2_92"/>
          <p:cNvSpPr/>
          <p:nvPr/>
        </p:nvSpPr>
        <p:spPr>
          <a:xfrm>
            <a:off x="6139538" y="1678625"/>
            <a:ext cx="1713600" cy="774300"/>
          </a:xfrm>
          <a:prstGeom prst="rect">
            <a:avLst/>
          </a:prstGeom>
          <a:solidFill>
            <a:srgbClr val="EEF3FB"/>
          </a:solidFill>
          <a:ln cap="flat" cmpd="sng" w="18175">
            <a:solidFill>
              <a:srgbClr val="003F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9100" lIns="119100" spcFirstLastPara="1" rIns="119100" wrap="square" tIns="119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h75c6641a97eb45fb_2_92"/>
          <p:cNvSpPr txBox="1"/>
          <p:nvPr/>
        </p:nvSpPr>
        <p:spPr>
          <a:xfrm>
            <a:off x="6210335" y="1678625"/>
            <a:ext cx="1572300" cy="7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4FA1"/>
              </a:buClr>
              <a:buSzPts val="886"/>
              <a:buFont typeface="Noto Sans JP"/>
              <a:buNone/>
            </a:pPr>
            <a:r>
              <a:rPr b="1" i="0" lang="ja-JP" sz="886" u="none" cap="none" strike="noStrike">
                <a:solidFill>
                  <a:srgbClr val="1E4FA1"/>
                </a:solidFill>
                <a:latin typeface="Noto Sans JP"/>
                <a:ea typeface="Noto Sans JP"/>
                <a:cs typeface="Noto Sans JP"/>
                <a:sym typeface="Noto Sans JP"/>
              </a:rPr>
              <a:t>④</a:t>
            </a:r>
            <a:r>
              <a:rPr b="1" i="0" lang="ja-JP" sz="1107" u="none" cap="none" strike="noStrike">
                <a:solidFill>
                  <a:srgbClr val="222222"/>
                </a:solidFill>
                <a:latin typeface="Noto Sans JP"/>
                <a:ea typeface="Noto Sans JP"/>
                <a:cs typeface="Noto Sans JP"/>
                <a:sym typeface="Noto Sans JP"/>
              </a:rPr>
              <a:t>支払いの検知・照合</a:t>
            </a:r>
            <a:endParaRPr b="0" i="0" sz="1107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60"/>
              <a:buFont typeface="Noto Sans JP"/>
              <a:buNone/>
            </a:pPr>
            <a:r>
              <a:rPr b="0" i="0" lang="ja-JP" sz="860" u="none" cap="none" strike="noStrike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払込票バーコード情報と突き合わせ</a:t>
            </a:r>
            <a:endParaRPr b="0" i="0" sz="1107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30" name="Google Shape;230;h75c6641a97eb45fb_2_92"/>
          <p:cNvSpPr/>
          <p:nvPr/>
        </p:nvSpPr>
        <p:spPr>
          <a:xfrm rot="5400000">
            <a:off x="7859399" y="2015346"/>
            <a:ext cx="170100" cy="100800"/>
          </a:xfrm>
          <a:prstGeom prst="triangle">
            <a:avLst>
              <a:gd fmla="val 50000" name="adj"/>
            </a:avLst>
          </a:prstGeom>
          <a:solidFill>
            <a:srgbClr val="3B5A8F"/>
          </a:solidFill>
          <a:ln>
            <a:noFill/>
          </a:ln>
        </p:spPr>
        <p:txBody>
          <a:bodyPr anchorCtr="0" anchor="ctr" bIns="119100" lIns="119100" spcFirstLastPara="1" rIns="119100" wrap="square" tIns="119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h75c6641a97eb45fb_2_92"/>
          <p:cNvSpPr/>
          <p:nvPr/>
        </p:nvSpPr>
        <p:spPr>
          <a:xfrm>
            <a:off x="8035304" y="1678625"/>
            <a:ext cx="1713600" cy="774300"/>
          </a:xfrm>
          <a:prstGeom prst="rect">
            <a:avLst/>
          </a:prstGeom>
          <a:solidFill>
            <a:srgbClr val="EEF3FB"/>
          </a:solidFill>
          <a:ln cap="flat" cmpd="sng" w="18175">
            <a:solidFill>
              <a:srgbClr val="003F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9100" lIns="119100" spcFirstLastPara="1" rIns="119100" wrap="square" tIns="119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h75c6641a97eb45fb_2_92"/>
          <p:cNvSpPr txBox="1"/>
          <p:nvPr/>
        </p:nvSpPr>
        <p:spPr>
          <a:xfrm>
            <a:off x="8106103" y="1678625"/>
            <a:ext cx="1572300" cy="7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4FA1"/>
              </a:buClr>
              <a:buSzPts val="886"/>
              <a:buFont typeface="Noto Sans JP"/>
              <a:buNone/>
            </a:pPr>
            <a:r>
              <a:rPr b="1" i="0" lang="ja-JP" sz="886" u="none" cap="none" strike="noStrike">
                <a:solidFill>
                  <a:srgbClr val="1E4FA1"/>
                </a:solidFill>
                <a:latin typeface="Noto Sans JP"/>
                <a:ea typeface="Noto Sans JP"/>
                <a:cs typeface="Noto Sans JP"/>
                <a:sym typeface="Noto Sans JP"/>
              </a:rPr>
              <a:t>⑤</a:t>
            </a:r>
            <a:r>
              <a:rPr b="1" i="0" lang="ja-JP" sz="1107" u="none" cap="none" strike="noStrike">
                <a:solidFill>
                  <a:srgbClr val="222222"/>
                </a:solidFill>
                <a:latin typeface="Noto Sans JP"/>
                <a:ea typeface="Noto Sans JP"/>
                <a:cs typeface="Noto Sans JP"/>
                <a:sym typeface="Noto Sans JP"/>
              </a:rPr>
              <a:t>収納データの生成</a:t>
            </a:r>
            <a:endParaRPr b="0" i="0" sz="1107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60"/>
              <a:buFont typeface="Noto Sans JP"/>
              <a:buNone/>
            </a:pPr>
            <a:r>
              <a:rPr b="0" i="0" lang="ja-JP" sz="860" u="none" cap="none" strike="noStrike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速報・確報データを生成</a:t>
            </a:r>
            <a:endParaRPr b="0" i="0" sz="1107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33" name="Google Shape;233;h75c6641a97eb45fb_2_92"/>
          <p:cNvSpPr/>
          <p:nvPr/>
        </p:nvSpPr>
        <p:spPr>
          <a:xfrm rot="5400000">
            <a:off x="9755166" y="2015346"/>
            <a:ext cx="170100" cy="100800"/>
          </a:xfrm>
          <a:prstGeom prst="triangle">
            <a:avLst>
              <a:gd fmla="val 50000" name="adj"/>
            </a:avLst>
          </a:prstGeom>
          <a:solidFill>
            <a:srgbClr val="3B5A8F"/>
          </a:solidFill>
          <a:ln>
            <a:noFill/>
          </a:ln>
        </p:spPr>
        <p:txBody>
          <a:bodyPr anchorCtr="0" anchor="ctr" bIns="119100" lIns="119100" spcFirstLastPara="1" rIns="119100" wrap="square" tIns="119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h75c6641a97eb45fb_2_92"/>
          <p:cNvSpPr/>
          <p:nvPr/>
        </p:nvSpPr>
        <p:spPr>
          <a:xfrm>
            <a:off x="9931071" y="1678625"/>
            <a:ext cx="1713600" cy="774300"/>
          </a:xfrm>
          <a:prstGeom prst="rect">
            <a:avLst/>
          </a:prstGeom>
          <a:solidFill>
            <a:srgbClr val="EEF3FB"/>
          </a:solidFill>
          <a:ln cap="flat" cmpd="sng" w="18175">
            <a:solidFill>
              <a:srgbClr val="003F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9100" lIns="119100" spcFirstLastPara="1" rIns="119100" wrap="square" tIns="119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h75c6641a97eb45fb_2_92"/>
          <p:cNvSpPr txBox="1"/>
          <p:nvPr/>
        </p:nvSpPr>
        <p:spPr>
          <a:xfrm>
            <a:off x="10001870" y="1678625"/>
            <a:ext cx="1572300" cy="7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4FA1"/>
              </a:buClr>
              <a:buSzPts val="886"/>
              <a:buFont typeface="Noto Sans JP"/>
              <a:buNone/>
            </a:pPr>
            <a:r>
              <a:rPr b="1" i="0" lang="ja-JP" sz="886" u="none" cap="none" strike="noStrike">
                <a:solidFill>
                  <a:srgbClr val="1E4FA1"/>
                </a:solidFill>
                <a:latin typeface="Noto Sans JP"/>
                <a:ea typeface="Noto Sans JP"/>
                <a:cs typeface="Noto Sans JP"/>
                <a:sym typeface="Noto Sans JP"/>
              </a:rPr>
              <a:t>⑥</a:t>
            </a:r>
            <a:r>
              <a:rPr b="1" i="0" lang="ja-JP" sz="1107" u="none" cap="none" strike="noStrike">
                <a:solidFill>
                  <a:srgbClr val="222222"/>
                </a:solidFill>
                <a:latin typeface="Noto Sans JP"/>
                <a:ea typeface="Noto Sans JP"/>
                <a:cs typeface="Noto Sans JP"/>
                <a:sym typeface="Noto Sans JP"/>
              </a:rPr>
              <a:t>収納データの送付</a:t>
            </a:r>
            <a:endParaRPr b="0" i="0" sz="1107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60"/>
              <a:buFont typeface="Noto Sans JP"/>
              <a:buNone/>
            </a:pPr>
            <a:r>
              <a:rPr b="0" i="0" lang="ja-JP" sz="860" u="none" cap="none" strike="noStrike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広域IP網を使った電送システム</a:t>
            </a:r>
            <a:endParaRPr b="0" i="0" sz="860" u="none" cap="none" strike="noStrike">
              <a:solidFill>
                <a:srgbClr val="666666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60"/>
              <a:buFont typeface="Noto Sans JP"/>
              <a:buNone/>
            </a:pPr>
            <a:r>
              <a:rPr b="0" i="0" lang="ja-JP" sz="860" u="none" cap="none" strike="noStrike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／メール等</a:t>
            </a:r>
            <a:endParaRPr b="0" i="0" sz="1107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36" name="Google Shape;236;h75c6641a97eb45fb_2_92"/>
          <p:cNvSpPr txBox="1"/>
          <p:nvPr/>
        </p:nvSpPr>
        <p:spPr>
          <a:xfrm>
            <a:off x="471150" y="2488698"/>
            <a:ext cx="111735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25"/>
              <a:buFont typeface="Noto Sans JP"/>
              <a:buNone/>
            </a:pPr>
            <a:r>
              <a:rPr b="0" i="0" lang="ja-JP" sz="925" u="none" cap="none" strike="noStrike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青の枠＝DSK側の処理</a:t>
            </a:r>
            <a:endParaRPr b="0" i="0" sz="925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37" name="Google Shape;237;h75c6641a97eb45fb_2_92"/>
          <p:cNvSpPr/>
          <p:nvPr/>
        </p:nvSpPr>
        <p:spPr>
          <a:xfrm>
            <a:off x="471150" y="2750777"/>
            <a:ext cx="11173500" cy="295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19100" lIns="119100" spcFirstLastPara="1" rIns="119100" wrap="square" tIns="119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h75c6641a97eb45fb_2_92"/>
          <p:cNvSpPr/>
          <p:nvPr/>
        </p:nvSpPr>
        <p:spPr>
          <a:xfrm>
            <a:off x="471150" y="2750777"/>
            <a:ext cx="11173500" cy="345600"/>
          </a:xfrm>
          <a:prstGeom prst="rect">
            <a:avLst/>
          </a:prstGeom>
          <a:solidFill>
            <a:srgbClr val="EEF3FB"/>
          </a:solidFill>
          <a:ln>
            <a:noFill/>
          </a:ln>
        </p:spPr>
        <p:txBody>
          <a:bodyPr anchorCtr="0" anchor="ctr" bIns="119100" lIns="119100" spcFirstLastPara="1" rIns="119100" wrap="square" tIns="119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h75c6641a97eb45fb_2_92"/>
          <p:cNvSpPr txBox="1"/>
          <p:nvPr/>
        </p:nvSpPr>
        <p:spPr>
          <a:xfrm>
            <a:off x="587844" y="2750777"/>
            <a:ext cx="109404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4FA1"/>
              </a:buClr>
              <a:buSzPts val="1107"/>
              <a:buFont typeface="Noto Sans JP"/>
              <a:buNone/>
            </a:pPr>
            <a:r>
              <a:rPr b="1" i="0" lang="ja-JP" sz="1107" u="none" cap="none" strike="noStrike">
                <a:solidFill>
                  <a:srgbClr val="1E4FA1"/>
                </a:solidFill>
                <a:latin typeface="Noto Sans JP"/>
                <a:ea typeface="Noto Sans JP"/>
                <a:cs typeface="Noto Sans JP"/>
                <a:sym typeface="Noto Sans JP"/>
              </a:rPr>
              <a:t>検証で確認する4点</a:t>
            </a:r>
            <a:endParaRPr b="0" i="0" sz="1107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40" name="Google Shape;240;h75c6641a97eb45fb_2_92"/>
          <p:cNvSpPr/>
          <p:nvPr/>
        </p:nvSpPr>
        <p:spPr>
          <a:xfrm>
            <a:off x="471150" y="2750775"/>
            <a:ext cx="11173500" cy="3277200"/>
          </a:xfrm>
          <a:prstGeom prst="rect">
            <a:avLst/>
          </a:prstGeom>
          <a:noFill/>
          <a:ln cap="flat" cmpd="sng" w="24825">
            <a:solidFill>
              <a:srgbClr val="003F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9100" lIns="119100" spcFirstLastPara="1" rIns="119100" wrap="square" tIns="119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h75c6641a97eb45fb_2_92"/>
          <p:cNvSpPr/>
          <p:nvPr/>
        </p:nvSpPr>
        <p:spPr>
          <a:xfrm>
            <a:off x="579092" y="3292803"/>
            <a:ext cx="428700" cy="214500"/>
          </a:xfrm>
          <a:prstGeom prst="roundRect">
            <a:avLst>
              <a:gd fmla="val 50000" name="adj"/>
            </a:avLst>
          </a:prstGeom>
          <a:solidFill>
            <a:srgbClr val="1F56AD"/>
          </a:solidFill>
          <a:ln>
            <a:noFill/>
          </a:ln>
        </p:spPr>
        <p:txBody>
          <a:bodyPr anchorCtr="0" anchor="ctr" bIns="119100" lIns="119100" spcFirstLastPara="1" rIns="119100" wrap="square" tIns="119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h75c6641a97eb45fb_2_92"/>
          <p:cNvSpPr txBox="1"/>
          <p:nvPr/>
        </p:nvSpPr>
        <p:spPr>
          <a:xfrm>
            <a:off x="579092" y="3292803"/>
            <a:ext cx="4287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Noto Sans JP"/>
              <a:buNone/>
            </a:pPr>
            <a:r>
              <a:rPr b="1" i="0" lang="ja-JP" sz="860" u="none" cap="none" strike="noStrike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①②③</a:t>
            </a:r>
            <a:endParaRPr b="0" i="0" sz="860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43" name="Google Shape;243;h75c6641a97eb45fb_2_92"/>
          <p:cNvSpPr txBox="1"/>
          <p:nvPr/>
        </p:nvSpPr>
        <p:spPr>
          <a:xfrm>
            <a:off x="1124644" y="3239196"/>
            <a:ext cx="10412400" cy="5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58"/>
              <a:buFont typeface="Noto Sans JP"/>
              <a:buNone/>
            </a:pPr>
            <a:r>
              <a:rPr b="1" i="0" lang="ja-JP" sz="1159" u="none" cap="none" strike="noStrike">
                <a:solidFill>
                  <a:srgbClr val="222222"/>
                </a:solidFill>
                <a:latin typeface="Noto Sans JP"/>
                <a:ea typeface="Noto Sans JP"/>
                <a:cs typeface="Noto Sans JP"/>
                <a:sym typeface="Noto Sans JP"/>
              </a:rPr>
              <a:t>支払いが通ること</a:t>
            </a:r>
            <a:endParaRPr b="0" i="0" sz="1107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25"/>
              <a:buFont typeface="Noto Sans JP"/>
              <a:buNone/>
            </a:pPr>
            <a:r>
              <a:rPr b="0" i="0" lang="ja-JP" sz="925" u="none" cap="none" strike="noStrike">
                <a:solidFill>
                  <a:srgbClr val="555555"/>
                </a:solidFill>
                <a:latin typeface="Noto Sans JP"/>
                <a:ea typeface="Noto Sans JP"/>
                <a:cs typeface="Noto Sans JP"/>
                <a:sym typeface="Noto Sans JP"/>
              </a:rPr>
              <a:t>バーコードから金額・納付先を正しく読み取り、JPYSCで支払いが完了する</a:t>
            </a:r>
            <a:endParaRPr b="0" i="0" sz="1107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cxnSp>
        <p:nvCxnSpPr>
          <p:cNvPr id="244" name="Google Shape;244;h75c6641a97eb45fb_2_92"/>
          <p:cNvCxnSpPr/>
          <p:nvPr/>
        </p:nvCxnSpPr>
        <p:spPr>
          <a:xfrm>
            <a:off x="579092" y="3822917"/>
            <a:ext cx="10957800" cy="0"/>
          </a:xfrm>
          <a:prstGeom prst="straightConnector1">
            <a:avLst/>
          </a:prstGeom>
          <a:noFill/>
          <a:ln cap="flat" cmpd="sng" w="12400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h75c6641a97eb45fb_2_92"/>
          <p:cNvSpPr/>
          <p:nvPr/>
        </p:nvSpPr>
        <p:spPr>
          <a:xfrm>
            <a:off x="579092" y="3959912"/>
            <a:ext cx="428700" cy="214500"/>
          </a:xfrm>
          <a:prstGeom prst="roundRect">
            <a:avLst>
              <a:gd fmla="val 50000" name="adj"/>
            </a:avLst>
          </a:prstGeom>
          <a:solidFill>
            <a:srgbClr val="1F56AD"/>
          </a:solidFill>
          <a:ln>
            <a:noFill/>
          </a:ln>
        </p:spPr>
        <p:txBody>
          <a:bodyPr anchorCtr="0" anchor="ctr" bIns="119100" lIns="119100" spcFirstLastPara="1" rIns="119100" wrap="square" tIns="119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h75c6641a97eb45fb_2_92"/>
          <p:cNvSpPr txBox="1"/>
          <p:nvPr/>
        </p:nvSpPr>
        <p:spPr>
          <a:xfrm>
            <a:off x="579092" y="3959912"/>
            <a:ext cx="4287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Noto Sans JP"/>
              <a:buNone/>
            </a:pPr>
            <a:r>
              <a:rPr b="1" i="0" lang="ja-JP" sz="860" u="none" cap="none" strike="noStrike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④</a:t>
            </a:r>
            <a:endParaRPr b="0" i="0" sz="860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47" name="Google Shape;247;h75c6641a97eb45fb_2_92"/>
          <p:cNvSpPr txBox="1"/>
          <p:nvPr/>
        </p:nvSpPr>
        <p:spPr>
          <a:xfrm>
            <a:off x="1124644" y="3906305"/>
            <a:ext cx="10412400" cy="5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58"/>
              <a:buFont typeface="Noto Sans JP"/>
              <a:buNone/>
            </a:pPr>
            <a:r>
              <a:rPr b="1" i="0" lang="ja-JP" sz="1159" u="none" cap="none" strike="noStrike">
                <a:solidFill>
                  <a:srgbClr val="222222"/>
                </a:solidFill>
                <a:latin typeface="Noto Sans JP"/>
                <a:ea typeface="Noto Sans JP"/>
                <a:cs typeface="Noto Sans JP"/>
                <a:sym typeface="Noto Sans JP"/>
              </a:rPr>
              <a:t>支払いを正しく検知・照合できること</a:t>
            </a:r>
            <a:endParaRPr b="0" i="0" sz="1107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25"/>
              <a:buFont typeface="Noto Sans JP"/>
              <a:buNone/>
            </a:pPr>
            <a:r>
              <a:rPr b="0" i="0" lang="ja-JP" sz="925" u="none" cap="none" strike="noStrike">
                <a:solidFill>
                  <a:srgbClr val="555555"/>
                </a:solidFill>
                <a:latin typeface="Noto Sans JP"/>
                <a:ea typeface="Noto Sans JP"/>
                <a:cs typeface="Noto Sans JP"/>
                <a:sym typeface="Noto Sans JP"/>
              </a:rPr>
              <a:t>受け取ったJPYSCと払込票の情報が一致する</a:t>
            </a:r>
            <a:endParaRPr b="0" i="0" sz="1107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cxnSp>
        <p:nvCxnSpPr>
          <p:cNvPr id="248" name="Google Shape;248;h75c6641a97eb45fb_2_92"/>
          <p:cNvCxnSpPr/>
          <p:nvPr/>
        </p:nvCxnSpPr>
        <p:spPr>
          <a:xfrm>
            <a:off x="579092" y="4430462"/>
            <a:ext cx="10957800" cy="0"/>
          </a:xfrm>
          <a:prstGeom prst="straightConnector1">
            <a:avLst/>
          </a:prstGeom>
          <a:noFill/>
          <a:ln cap="flat" cmpd="sng" w="12400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h75c6641a97eb45fb_2_92"/>
          <p:cNvSpPr/>
          <p:nvPr/>
        </p:nvSpPr>
        <p:spPr>
          <a:xfrm>
            <a:off x="579092" y="4567458"/>
            <a:ext cx="428700" cy="214500"/>
          </a:xfrm>
          <a:prstGeom prst="roundRect">
            <a:avLst>
              <a:gd fmla="val 50000" name="adj"/>
            </a:avLst>
          </a:prstGeom>
          <a:solidFill>
            <a:srgbClr val="1F56AD"/>
          </a:solidFill>
          <a:ln>
            <a:noFill/>
          </a:ln>
        </p:spPr>
        <p:txBody>
          <a:bodyPr anchorCtr="0" anchor="ctr" bIns="119100" lIns="119100" spcFirstLastPara="1" rIns="119100" wrap="square" tIns="119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h75c6641a97eb45fb_2_92"/>
          <p:cNvSpPr txBox="1"/>
          <p:nvPr/>
        </p:nvSpPr>
        <p:spPr>
          <a:xfrm>
            <a:off x="579092" y="4567458"/>
            <a:ext cx="4287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Noto Sans JP"/>
              <a:buNone/>
            </a:pPr>
            <a:r>
              <a:rPr b="1" i="0" lang="ja-JP" sz="860" u="none" cap="none" strike="noStrike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⑤⑥</a:t>
            </a:r>
            <a:endParaRPr b="0" i="0" sz="860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51" name="Google Shape;251;h75c6641a97eb45fb_2_92"/>
          <p:cNvSpPr txBox="1"/>
          <p:nvPr/>
        </p:nvSpPr>
        <p:spPr>
          <a:xfrm>
            <a:off x="1124644" y="4513851"/>
            <a:ext cx="10412400" cy="5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58"/>
              <a:buFont typeface="Noto Sans JP"/>
              <a:buNone/>
            </a:pPr>
            <a:r>
              <a:rPr b="1" i="0" lang="ja-JP" sz="1159" u="none" cap="none" strike="noStrike">
                <a:solidFill>
                  <a:srgbClr val="222222"/>
                </a:solidFill>
                <a:latin typeface="Noto Sans JP"/>
                <a:ea typeface="Noto Sans JP"/>
                <a:cs typeface="Noto Sans JP"/>
                <a:sym typeface="Noto Sans JP"/>
              </a:rPr>
              <a:t>収納データが既存形式で作れること</a:t>
            </a:r>
            <a:endParaRPr b="0" i="0" sz="1107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25"/>
              <a:buFont typeface="Noto Sans JP"/>
              <a:buNone/>
            </a:pPr>
            <a:r>
              <a:rPr b="0" i="0" lang="ja-JP" sz="925" u="none" cap="none" strike="noStrike">
                <a:solidFill>
                  <a:srgbClr val="555555"/>
                </a:solidFill>
                <a:latin typeface="Noto Sans JP"/>
                <a:ea typeface="Noto Sans JP"/>
                <a:cs typeface="Noto Sans JP"/>
                <a:sym typeface="Noto Sans JP"/>
              </a:rPr>
              <a:t>速報・確報の内容が払込票と一致し、既存の仕様どおりに出力される。連携方法（広域IP網を使いテスト用環境に連携／メールでの共有等）についてはご相談となります。</a:t>
            </a:r>
            <a:endParaRPr b="0" i="0" sz="925" u="none" cap="none" strike="noStrike">
              <a:solidFill>
                <a:srgbClr val="555555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25"/>
              <a:buFont typeface="Noto Sans JP"/>
              <a:buNone/>
            </a:pPr>
            <a:r>
              <a:rPr b="0" i="0" lang="ja-JP" sz="925" u="none" cap="none" strike="noStrike">
                <a:solidFill>
                  <a:srgbClr val="555555"/>
                </a:solidFill>
                <a:latin typeface="Noto Sans JP"/>
                <a:ea typeface="Noto Sans JP"/>
                <a:cs typeface="Noto Sans JP"/>
                <a:sym typeface="Noto Sans JP"/>
              </a:rPr>
              <a:t>　※既存本部コードを流用しての連携を想定しております。</a:t>
            </a:r>
            <a:endParaRPr b="0" i="0" sz="1107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cxnSp>
        <p:nvCxnSpPr>
          <p:cNvPr id="252" name="Google Shape;252;h75c6641a97eb45fb_2_92"/>
          <p:cNvCxnSpPr/>
          <p:nvPr/>
        </p:nvCxnSpPr>
        <p:spPr>
          <a:xfrm>
            <a:off x="579092" y="5188008"/>
            <a:ext cx="10957800" cy="0"/>
          </a:xfrm>
          <a:prstGeom prst="straightConnector1">
            <a:avLst/>
          </a:prstGeom>
          <a:noFill/>
          <a:ln cap="flat" cmpd="sng" w="12400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" name="Google Shape;253;h75c6641a97eb45fb_2_92"/>
          <p:cNvSpPr/>
          <p:nvPr/>
        </p:nvSpPr>
        <p:spPr>
          <a:xfrm>
            <a:off x="579092" y="5347504"/>
            <a:ext cx="428700" cy="214500"/>
          </a:xfrm>
          <a:prstGeom prst="roundRect">
            <a:avLst>
              <a:gd fmla="val 50000" name="adj"/>
            </a:avLst>
          </a:prstGeom>
          <a:solidFill>
            <a:srgbClr val="1F56AD"/>
          </a:solidFill>
          <a:ln>
            <a:noFill/>
          </a:ln>
        </p:spPr>
        <p:txBody>
          <a:bodyPr anchorCtr="0" anchor="ctr" bIns="119100" lIns="119100" spcFirstLastPara="1" rIns="119100" wrap="square" tIns="119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h75c6641a97eb45fb_2_92"/>
          <p:cNvSpPr txBox="1"/>
          <p:nvPr/>
        </p:nvSpPr>
        <p:spPr>
          <a:xfrm>
            <a:off x="579092" y="5355004"/>
            <a:ext cx="4287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0"/>
              <a:buFont typeface="Noto Sans JP"/>
              <a:buNone/>
            </a:pPr>
            <a:r>
              <a:rPr b="1" i="0" lang="ja-JP" sz="860" u="none" cap="none" strike="noStrike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①②</a:t>
            </a:r>
            <a:endParaRPr b="0" i="0" sz="860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55" name="Google Shape;255;h75c6641a97eb45fb_2_92"/>
          <p:cNvSpPr txBox="1"/>
          <p:nvPr/>
        </p:nvSpPr>
        <p:spPr>
          <a:xfrm>
            <a:off x="1124644" y="5301397"/>
            <a:ext cx="10412400" cy="5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58"/>
              <a:buFont typeface="Noto Sans JP"/>
              <a:buNone/>
            </a:pPr>
            <a:r>
              <a:rPr b="1" i="0" lang="ja-JP" sz="1159" u="none" cap="none" strike="noStrike">
                <a:solidFill>
                  <a:srgbClr val="222222"/>
                </a:solidFill>
                <a:latin typeface="Noto Sans JP"/>
                <a:ea typeface="Noto Sans JP"/>
                <a:cs typeface="Noto Sans JP"/>
                <a:sym typeface="Noto Sans JP"/>
              </a:rPr>
              <a:t>ミニアプリの操作に迷いがないこと（UI/UX）</a:t>
            </a:r>
            <a:endParaRPr b="0" i="0" sz="1107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25"/>
              <a:buFont typeface="Noto Sans JP"/>
              <a:buNone/>
            </a:pPr>
            <a:r>
              <a:rPr b="0" i="0" lang="ja-JP" sz="925" u="none" cap="none" strike="noStrike">
                <a:solidFill>
                  <a:srgbClr val="555555"/>
                </a:solidFill>
                <a:latin typeface="Noto Sans JP"/>
                <a:ea typeface="Noto Sans JP"/>
                <a:cs typeface="Noto Sans JP"/>
                <a:sym typeface="Noto Sans JP"/>
              </a:rPr>
              <a:t>払込票を受け取ってから支払い完了までを実際に操作し、画面の分かりやすさ・操作のしやすさを確認する</a:t>
            </a:r>
            <a:endParaRPr b="0" i="0" sz="1107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56" name="Google Shape;256;h75c6641a97eb45fb_2_92"/>
          <p:cNvSpPr/>
          <p:nvPr/>
        </p:nvSpPr>
        <p:spPr>
          <a:xfrm>
            <a:off x="9661400" y="4991838"/>
            <a:ext cx="3465000" cy="10545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-JP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テストトークンを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-JP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どのチェーン・どのトークンを用い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-JP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どのようにテストトークンを渡すかを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-JP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確認させていただきたい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h75c6641a97eb45fb_2_92"/>
          <p:cNvSpPr/>
          <p:nvPr/>
        </p:nvSpPr>
        <p:spPr>
          <a:xfrm>
            <a:off x="471075" y="1678625"/>
            <a:ext cx="1713600" cy="774300"/>
          </a:xfrm>
          <a:prstGeom prst="rect">
            <a:avLst/>
          </a:prstGeom>
          <a:solidFill>
            <a:srgbClr val="FFFFFF"/>
          </a:solidFill>
          <a:ln cap="flat" cmpd="sng" w="12400">
            <a:solidFill>
              <a:srgbClr val="D8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9100" lIns="119100" spcFirstLastPara="1" rIns="119100" wrap="square" tIns="119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h75c6641a97eb45fb_2_92"/>
          <p:cNvSpPr txBox="1"/>
          <p:nvPr/>
        </p:nvSpPr>
        <p:spPr>
          <a:xfrm>
            <a:off x="541873" y="1678625"/>
            <a:ext cx="1572300" cy="7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4FA1"/>
              </a:buClr>
              <a:buSzPts val="886"/>
              <a:buFont typeface="Noto Sans JP"/>
              <a:buNone/>
            </a:pPr>
            <a:r>
              <a:rPr b="1" i="0" lang="ja-JP" sz="886" u="none" cap="none" strike="noStrike">
                <a:solidFill>
                  <a:srgbClr val="1E4FA1"/>
                </a:solidFill>
                <a:latin typeface="Noto Sans JP"/>
                <a:ea typeface="Noto Sans JP"/>
                <a:cs typeface="Noto Sans JP"/>
                <a:sym typeface="Noto Sans JP"/>
              </a:rPr>
              <a:t>①</a:t>
            </a:r>
            <a:r>
              <a:rPr b="1" i="0" lang="ja-JP" sz="1107" u="none" cap="none" strike="noStrike">
                <a:solidFill>
                  <a:srgbClr val="222222"/>
                </a:solidFill>
                <a:latin typeface="Noto Sans JP"/>
                <a:ea typeface="Noto Sans JP"/>
                <a:cs typeface="Noto Sans JP"/>
                <a:sym typeface="Noto Sans JP"/>
              </a:rPr>
              <a:t>テストトークンの入手</a:t>
            </a:r>
            <a:endParaRPr b="0" i="0" sz="1107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860"/>
              <a:buFont typeface="Noto Sans JP"/>
              <a:buNone/>
            </a:pPr>
            <a:r>
              <a:rPr b="0" i="0" lang="ja-JP" sz="860" u="none" cap="none" strike="noStrike">
                <a:solidFill>
                  <a:srgbClr val="666666"/>
                </a:solidFill>
                <a:latin typeface="Noto Sans JP"/>
                <a:ea typeface="Noto Sans JP"/>
                <a:cs typeface="Noto Sans JP"/>
                <a:sym typeface="Noto Sans JP"/>
              </a:rPr>
              <a:t>ミニアプリにJPYSCテストトークンを保持</a:t>
            </a:r>
            <a:endParaRPr b="0" i="0" sz="1107" u="none" cap="none" strike="noStrike">
              <a:solidFill>
                <a:srgbClr val="000000"/>
              </a:solidFill>
              <a:latin typeface="Noto Sans JP"/>
              <a:ea typeface="Noto Sans JP"/>
              <a:cs typeface="Noto Sans JP"/>
              <a:sym typeface="Noto Sans JP"/>
            </a:endParaRPr>
          </a:p>
        </p:txBody>
      </p:sp>
      <p:sp>
        <p:nvSpPr>
          <p:cNvPr id="259" name="Google Shape;259;h75c6641a97eb45fb_2_92"/>
          <p:cNvSpPr/>
          <p:nvPr/>
        </p:nvSpPr>
        <p:spPr>
          <a:xfrm rot="5400000">
            <a:off x="2190937" y="2015346"/>
            <a:ext cx="170100" cy="100800"/>
          </a:xfrm>
          <a:prstGeom prst="triangle">
            <a:avLst>
              <a:gd fmla="val 50000" name="adj"/>
            </a:avLst>
          </a:prstGeom>
          <a:solidFill>
            <a:srgbClr val="3B5A8F"/>
          </a:solidFill>
          <a:ln>
            <a:noFill/>
          </a:ln>
        </p:spPr>
        <p:txBody>
          <a:bodyPr anchorCtr="0" anchor="ctr" bIns="119100" lIns="119100" spcFirstLastPara="1" rIns="119100" wrap="square" tIns="1191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ee979a73b3_5_15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ja-JP">
                <a:latin typeface="Meiryo"/>
                <a:ea typeface="Meiryo"/>
                <a:cs typeface="Meiryo"/>
                <a:sym typeface="Meiryo"/>
              </a:rPr>
              <a:t>‹#›</a:t>
            </a:fld>
            <a:endParaRPr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6" name="Google Shape;266;g3ee979a73b3_5_15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ja-JP">
                <a:latin typeface="Meiryo"/>
                <a:ea typeface="Meiryo"/>
                <a:cs typeface="Meiryo"/>
                <a:sym typeface="Meiryo"/>
              </a:rPr>
              <a:t>© DSK.All Rights Reserved.</a:t>
            </a:r>
            <a:endParaRPr/>
          </a:p>
        </p:txBody>
      </p:sp>
      <p:sp>
        <p:nvSpPr>
          <p:cNvPr id="267" name="Google Shape;267;g3ee979a73b3_5_157"/>
          <p:cNvSpPr txBox="1"/>
          <p:nvPr/>
        </p:nvSpPr>
        <p:spPr>
          <a:xfrm>
            <a:off x="8497400" y="6338800"/>
            <a:ext cx="116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ja-JP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Google Shape;268;g3ee979a73b3_5_157" title="図1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9700" y="2809875"/>
            <a:ext cx="1752600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g3ee979a73b3_5_15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ja-JP"/>
              <a:t>2026/6/15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テーマ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テーマ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